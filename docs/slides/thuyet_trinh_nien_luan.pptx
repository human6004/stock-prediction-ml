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phép trình bày niên luận cơ sở CT239H về dự báo xu hướng giá cổ phiếu HOSE bằng machine learning. Đề tài do cô Phan Phương Lan hướng dẫn. Bài trình bày khoảng 15 phút, đi theo bốn chương của báo cáo. Tất cả số liệu trên slide đều lấy từ các tệp báo cáo sinh ra bởi pipeline trong repo.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đi theo đúng bốn chương của báo cáo. Phần lớn thời lượng dành cho chương 3 vì đó là phần thực nghiệm. Em sẽ nói rõ giao thức chống rò rỉ dữ liệu trước khi công bố kết quả. Kết quả cuối cùng là kết quả trung thực, kể cả phần chưa đạt mục tiêu.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Vấn đề thứ nhất là khối lượng: 400 mã, hơn 554 nghìn dòng OHLCV từ tháng 8 năm 2019 đến tháng 7 năm 2026. Không ai theo dõi thủ công hết được. Vấn đề thứ hai nghiêm trọng hơn: ba dạng rò rỉ dữ liệu khiến nhiều thử nghiệm dự báo chứng khoán cho chỉ số đẹp nhưng vô giá trị. Vì vậy trọng tâm của niên luận là quy trình thực nghiệm chống rò rỉ, không chỉ là huấn luyện một mô hình.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được phát biểu là phân loại nhị phân: giá đóng cửa tại đúng phiên thứ năm tăng hơn 1% thì nhãn UP, ngược lại NOT_UP. Mục tiêu không chỉ là mô hình mà còn là giao thức: purge, khóa TEST, so sánh baseline. Phạm vi giới hạn ở dữ liệu giá và khối lượng lịch sử, không dùng tin tức hay báo cáo tài chính. Kết quả phục vụ học tập, không phải khuyến nghị đầu tư.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họ mô hình được chọn vì đây là dữ liệu bảng, không phải chuỗi thuần: một mô hình tuyến tính làm mốc và hai mô hình ensemble trên cây. Metric chính là F1 của lớp UP vì UP là lớp thiểu số, chỉ khoảng 37,6% dữ liệu. Nếu chỉ dùng accuracy thì mô hình luôn dự báo NOT_UP đã đạt hơn 76% trên TEST. Công cụ đều là thư viện Python phổ biến, khai báo trong requirements.txt.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OHLCV được tải bằng scripts/fetch_hose_data.py qua thư viện vnstock, lưu thành một tệp CSV chia sẻ ngoài repo. Phễu dữ liệu cho thấy từng bước mất bao nhiêu dòng: 233 dòng bị loại vì nến sai logic OHLC, {cr['excluded_symbols']} mã bị loại vì dưới 250 phiên. Bước sinh feature mất thêm dòng vì rolling window dài nhất cần 50 phiên lịch sử. Cuối cùng còn 510.862 dòng có nhãn hợp lệ trên 396 mã.</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kỹ thuật quan trọng nhất của phần dữ liệu. Nhiều thử nghiệm lấy dòng thứ năm của riêng từng mã, nên hai mã có thể có nhãn ở hai phiên khác nhau. Ở đây phiên đích được tính trên lịch phiên chung của thị trường; mã nào không có giá đúng phiên đó thì bỏ dòng. Kết quả là 37,6% nhãn UP và 62,4% nhãn NOT_UP, tức lớp UP là lớp thiểu số.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mươi feature chia thành bảy nhóm, tất cả tính từ giá và khối lượng theo ngày. Mọi phép rolling đều chạy riêng trong từng mã, không trộn dữ liệu giữa các mã. Bốn cột liên quan tương lai là future_close_5d, future_return_5d, target và label_end_date bị kiểm tra tự động để không lọt vào tập feature. Không có feature nào nhìn thấy giá sau ngày tham chiếu.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tách hai phần: pipeline offline sinh hiện vật, và tầng phục vụ đọc lại hiện vật đó. Pipeline ghi ra final_model.pkl, model_metadata.json và các tệp báo cáo. Web Flask và CLI chỉ đọc hiện vật, không tự huấn luyện lại, nên kết quả trên web luôn khớp báo cáo. Tuning Lab là nơi thử siêu tham số và chốt cấu hình trước khi chạy pipeline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Chatbot chạy kiến trúc Action-Decision: LLM call thứ nhất chỉ chọn đúng một trong năm action là GENERAL_CHAT, STOCK_SIGNAL, STOCK_RANKING, PROJECT_INFO, OUT_OF_SCOPE kèm arguments theo schema cố định. Backend validate lại schema rồi kiểm symbol scope tập trung, sau đó một dispatcher cố định gọi handler tương ứng; mọi prediction, Điểm UP, xếp hạng và metric đều do backend tính từ artifact đã publish. LLM call thứ hai chỉ diễn đạt lại câu trả lời từ JSON số liệu backend đưa, không được thêm số mới, và nếu call này lỗi hoặc quá deadline thì hệ thống giữ nguyên bản formatter deterministic. Không có vector database, embedding, tool loop hay router keyword; trang /chat và dock nổi dùng chung một API. Decision sai protocol trả 502, nguồn dữ liệu chưa sẵn sàng trả 503 và quá deadline trả 504.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ảnh chụp thật từ phiên làm việc với Flask đang chạy, không phải ảnh minh họa. Câu đầu hỏi về model và kết quả TEST nên decision chọn PROJECT_INFO, số trả về trùng khớp bảng ở slide kết quả. Câu thứ hai hỏi FPT nên decision chọn STOCK_SIGNAL, backend kiểm scope rồi chạy inference và trả Điểm UP kèm ngưỡng quyết định. Câu thứ ba hỏi P/E và tin tức nên decision chọn OUT_OF_SCOPE, chatbot từ chối và nêu lại đúng những việc nó làm được. Cả ba câu không có con số nào do LLM tự viết ra, và disclaimer dữ liệu offline do backend gắn vào cuối trang.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tập được cắt theo mốc thời gian, không trộn ngẫu nhiên. Dòng nào có nhãn kết thúc vắt qua ranh giới thì bị purge, cụ thể 1.883 dòng ở biên TRAIN/VALIDATION và 1.775 dòng ở biên VALIDATION/TEST. Model được chọn trên VALIDATION, sau đó refit trên TRAIN cộng VALIDATION và chấm TEST đúng một lần. Fingerprint nội dung của snapshot dữ liệu được ghi vào registry để không thể chấm lại TEST nhiều lần rồi chọn kết quả đẹp nhất.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chéo cắt theo ngày thị trường: mọi dòng của cùng một phiên nằm cùng một fold. Giữa train và validation của mỗi fold bỏ 5 phiên và purge dòng có nhãn vắt biên. Ngưỡng quyết định 0,49 được chọn từ xác suất out-of-fold trên TRAIN, có ràng buộc precision không thấp hơn tỷ lệ UP thật và tỷ lệ dự báo UP không quá 50%. Ràng buộc này ngăn mô hình suy biến thành luôn dự báo UP để ăn điểm F1.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Siêu tham số được chốt thủ công tại Tuning Lab rồi khóa lại trong manual_config.json trước khi chạy pipeline. Hướng chung là giữ model đơn giản: cây nông, lá tối thiểu 100 mẫu, chỉ xét 20 phần trăm feature mỗi lần split. Random Forest dùng class_weight balanced_subsample vì lớp UP là lớp thiểu số, và random_state 42 để tái lập. Biểu đồ bên phải cho thấy F1_UP từng fold dao động từ khoảng 0,41 đến 0,51, tức chất lượng phụ thuộc chế độ thị trường từng giai đoạn.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Siêu tham số không dò tự động bằng GridSearch mà thử tay qua trang Tuning Lab, vì em muốn kiểm soát từng cấu hình và hiểu ảnh hưởng của mỗi tham số. Mọi lần chạy đều được ghi vào tuning_history.csv, tổng cộng 350 run cho ba model, nên quá trình thử là truy vết được chứ không phải chọn ngẫu nhiên. Điểm quan trọng về giao thức: Tuning Lab chỉ chấm trên TRAIN bằng cross-validation, không hề nhìn VALIDATION hay TEST. Cấu hình cuối cùng được khóa vào manual_config.json và pipeline chính thức từ chối chạy nếu thiếu cấu hình hoặc sai fingerprint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mô hình được chấm trên VALIDATION bằng ngưỡng đã chốt từ TRAIN. Random Forest đạt F1_UP 0,4773, cao hơn Gradient Boosting 0,4734 và Logistic Regression 0,4350, nên được chọn. Cần nói thẳng: baseline luôn dự báo UP đạt 0,4982 trên VALIDATION, vẫn cao hơn cả ba mô hình. Hệ thống ghi lại cảnh báo này trong metadata thay vì bỏ qua.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chính thức, chấm một lần trên 20.350 dòng TEST từ 13/04/2026 đến 13/07/2026. Random Forest đạt F1_UP 0,3754 và accuracy 0,5766, còn baseline luôn dự báo UP đạt F1_UP 0,3839. Nghĩa là mục tiêu vượt baseline không đạt, và hệ thống ghi baseline_passed bằng false kèm cảnh báo hiển thị trên web. Em chọn báo cáo trung thực con số này thay vì nới giao thức để có số đẹp hơn.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nhầm lẫn cho thấy bản chất lỗi: mô hình dự báo UP khá thoáng nên bắt được 2.589 trong 4.834 phiên tăng thật, đạt recall 0,536. Nhưng đi kèm 6.371 tín hiệu UP sai, nên precision chỉ 0,289. Một lý do là tỷ lệ UP trên TEST chỉ 23,8%, thấp hơn mức 37,6% của toàn bộ dữ liệu, nên ngưỡng chốt từ TRAIN trở nên quá thoáng. Đây chính là hạn chế về hiệu chỉnh ngưỡng theo chế độ thị trường.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xếp volatility_20d cao nhất với 19,7%, rồi tới month và volatility_5d. Mô hình dựa vào mức biến động nhiều hơn là hướng đi của giá, phù hợp với việc F1_UP thấp. Feature month đứng thứ hai là điểm cần thận trọng: nó có thể chỉ phản ánh chế độ thị trường trong giai đoạn huấn luyện. Các trung bình động thô như sma5, sma20, sma50 gần như không đóng góp vì đã có các tỷ lệ so sánh tương đối.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giao nộp gồm sáu trang chức năng, tất cả đọc lại cùng một model artifact do pipeline publish. Các trang dự báo, so sánh, xếp hạng và đánh giá chỉ đọc hiện vật, không train lại, nên số trên web luôn khớp báo cáo. Riêng trang Tuning Lab có nút chạy pipeline chính thức, nhưng bị chặn bởi ba điều kiện: đủ cấu hình ba model, đúng fingerprint dữ liệu và snapshot chưa từng được đánh giá. Trang đánh giá cố tình tách ba khối: cross-validation trên TRAIN, chọn model trên VALIDATION và đánh giá TEST một lần, để không trộn lẫn ba loại số này. Cảnh báo chưa vượt baseline được hiển thị trực tiếp trên giao diện thay vì chỉ nằm trong metadata.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kiểm thử trong thư mục tests được mở rộng cùng code nên slide không khóa cứng tổng số. Quan trọng nhất là nhóm kiểm thử giao thức: có test khẳng định nhãn dùng đúng phiên thị trường thứ năm, và test chặn cột tương lai lọt vào feature. Ngoài kiểm thử tự động, pipeline còn có cổng kiểm tra chạy trong lúc thực thi để chặn rò rỉ ranh giới và sai lệch mô hình được chọn. Phần chưa làm là kiểm thử hiệu năng và kiểm thử chấp nhận có người dùng thật.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Hạn chế quan trọng nhất là chất lượng dự báo chưa vượt baseline trên TEST, nên hệ thống chỉ dùng cho học tập và nghiên cứu. Nguyên nhân chính là tập feature chỉ khai thác giá và khối lượng theo ngày, chưa có dữ liệu cơ bản hay dòng tiền khối ngoại. Ngưỡng quyết định được chọn một lần từ OOF trên TRAIN và giữ cố định, chưa hiệu chỉnh lại theo chế độ thị trường. Về phần mềm, web chưa có xác thực người dùng và chưa có kiểm thử hiệu năng.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ưu tiên là mở rộng feature sang dữ liệu thị trường và ngành, vì đây là điểm nghẽn rõ nhất của mô hình hiện tại. Sau đó mới thử các họ mô hình mạnh hơn như XGBoost hay LSTM, nhưng giữ nguyên giao thức chống rò rỉ hiện có. Thay vì chọn một ngưỡng cố định, bước tiếp theo là hiệu chỉnh xác suất rồi chọn ngưỡng theo mục tiêu sử dụng. Cuối cùng là đánh giá theo hướng đầu tư có chi phí giao dịch, thay vì chỉ dựa vào độ đo phân loại.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bốn mục tiêu về kỹ thuật và sản phẩm đã đạt, mục tiêu về chất lượng dự báo không đạt. Em báo cáo công khai điều đó vì nó có ý nghĩa phương pháp: khi loại bỏ ba nguồn rò rỉ, năng lực dự báo thực tế của feature kỹ thuật thuần trên dữ liệu ngày là rất hạn chế. Đóng góp chính của niên luận là một giao thức thực nghiệm có kỷ luật và tái lập được, cùng hệ thống web cho phép kiểm chứng lại kết quả. Em xin hết và sẵn sàng nhận câu hỏi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91695"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ctu.png"/>
          <p:cNvPicPr>
            <a:picLocks noChangeAspect="1"/>
          </p:cNvPicPr>
          <p:nvPr/>
        </p:nvPicPr>
        <p:blipFill>
          <a:blip r:embed="rId2"/>
          <a:stretch>
            <a:fillRect/>
          </a:stretch>
        </p:blipFill>
        <p:spPr>
          <a:xfrm>
            <a:off x="548640" y="457200"/>
            <a:ext cx="1371600" cy="1371600"/>
          </a:xfrm>
          <a:prstGeom prst="rect">
            <a:avLst/>
          </a:prstGeom>
        </p:spPr>
      </p:pic>
      <p:sp>
        <p:nvSpPr>
          <p:cNvPr id="5" name="TextBox 4"/>
          <p:cNvSpPr txBox="1"/>
          <p:nvPr/>
        </p:nvSpPr>
        <p:spPr>
          <a:xfrm>
            <a:off x="2194560" y="548640"/>
            <a:ext cx="9265615" cy="2377440"/>
          </a:xfrm>
          <a:prstGeom prst="rect">
            <a:avLst/>
          </a:prstGeom>
          <a:noFill/>
        </p:spPr>
        <p:txBody>
          <a:bodyPr wrap="square">
            <a:spAutoFit/>
          </a:bodyPr>
          <a:lstStyle/>
          <a:p/>
          <a:p>
            <a:pPr>
              <a:spcAft>
                <a:spcPts val="1000"/>
              </a:spcAft>
            </a:pPr>
            <a:r>
              <a:rPr sz="1400" b="0">
                <a:solidFill>
                  <a:srgbClr val="9FB6C4"/>
                </a:solidFill>
                <a:latin typeface="Arial"/>
              </a:rPr>
              <a:t>TRƯỜNG ĐẠI HỌC CẦN THƠ - TRƯỜNG CÔNG NGHỆ THÔNG TIN &amp; TRUYỀN THÔNG</a:t>
            </a:r>
          </a:p>
          <a:p>
            <a:pPr>
              <a:spcAft>
                <a:spcPts val="1000"/>
              </a:spcAft>
            </a:pPr>
            <a:r>
              <a:rPr sz="1400" b="0">
                <a:solidFill>
                  <a:srgbClr val="9FB6C4"/>
                </a:solidFill>
                <a:latin typeface="Arial"/>
              </a:rPr>
              <a:t>NIÊN LUẬN CƠ SỞ - HỌC PHẦN CT239H</a:t>
            </a:r>
          </a:p>
          <a:p>
            <a:pPr>
              <a:spcAft>
                <a:spcPts val="1000"/>
              </a:spcAft>
            </a:pPr>
            <a:r>
              <a:rPr sz="3200" b="1">
                <a:solidFill>
                  <a:srgbClr val="FFFFFF"/>
                </a:solidFill>
                <a:latin typeface="Arial"/>
              </a:rPr>
              <a:t>DỰ BÁO XU HƯỚNG GIÁ CỔ PHIẾU HOSE BẰNG MACHINE LEARNING</a:t>
            </a:r>
          </a:p>
        </p:txBody>
      </p:sp>
      <p:sp>
        <p:nvSpPr>
          <p:cNvPr id="6" name="TextBox 5"/>
          <p:cNvSpPr txBox="1"/>
          <p:nvPr/>
        </p:nvSpPr>
        <p:spPr>
          <a:xfrm>
            <a:off x="2194560" y="3383280"/>
            <a:ext cx="9265615" cy="2194560"/>
          </a:xfrm>
          <a:prstGeom prst="rect">
            <a:avLst/>
          </a:prstGeom>
          <a:noFill/>
        </p:spPr>
        <p:txBody>
          <a:bodyPr wrap="square">
            <a:spAutoFit/>
          </a:bodyPr>
          <a:lstStyle/>
          <a:p>
            <a:pPr>
              <a:spcAft>
                <a:spcPts val="1400"/>
              </a:spcAft>
            </a:pPr>
            <a:r>
              <a:rPr sz="1800">
                <a:solidFill>
                  <a:srgbClr val="E6EDF2"/>
                </a:solidFill>
                <a:latin typeface="Arial"/>
              </a:rPr>
              <a:t>Giảng viên hướng dẫn: Phan Phương Lan</a:t>
            </a:r>
          </a:p>
          <a:p>
            <a:pPr>
              <a:spcAft>
                <a:spcPts val="1400"/>
              </a:spcAft>
            </a:pPr>
            <a:r>
              <a:rPr sz="1800">
                <a:solidFill>
                  <a:srgbClr val="E6EDF2"/>
                </a:solidFill>
                <a:latin typeface="Arial"/>
              </a:rPr>
              <a:t>Sinh viên thực hiện: Lê Trần Hiếu Nhân - B2308203</a:t>
            </a:r>
          </a:p>
          <a:p>
            <a:pPr>
              <a:spcAft>
                <a:spcPts val="1400"/>
              </a:spcAft>
            </a:pPr>
            <a:r>
              <a:rPr sz="1800">
                <a:solidFill>
                  <a:srgbClr val="E6EDF2"/>
                </a:solidFill>
                <a:latin typeface="Arial"/>
              </a:rPr>
              <a:t>Ngành Công nghệ thông tin - Cần Thơ, tháng 7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Nội dung trình bày</a:t>
            </a:r>
          </a:p>
          <a:p>
            <a:r>
              <a:rPr sz="1400">
                <a:solidFill>
                  <a:srgbClr val="5B6672"/>
                </a:solidFill>
                <a:latin typeface="Arial"/>
              </a:rPr>
              <a:t>Bốn chương theo guideline CT239H</a:t>
            </a:r>
          </a:p>
        </p:txBody>
      </p:sp>
      <p:sp>
        <p:nvSpPr>
          <p:cNvPr id="4" name="TextBox 3"/>
          <p:cNvSpPr txBox="1"/>
          <p:nvPr/>
        </p:nvSpPr>
        <p:spPr>
          <a:xfrm>
            <a:off x="731520" y="1554480"/>
            <a:ext cx="10728655" cy="4206240"/>
          </a:xfrm>
          <a:prstGeom prst="rect">
            <a:avLst/>
          </a:prstGeom>
          <a:noFill/>
        </p:spPr>
        <p:txBody>
          <a:bodyPr wrap="square">
            <a:spAutoFit/>
          </a:bodyPr>
          <a:lstStyle/>
          <a:p>
            <a:pPr>
              <a:spcAft>
                <a:spcPts val="1600"/>
              </a:spcAft>
            </a:pPr>
            <a:r>
              <a:rPr sz="2000">
                <a:solidFill>
                  <a:srgbClr val="1F2A37"/>
                </a:solidFill>
                <a:latin typeface="Arial"/>
              </a:rPr>
              <a:t>– Chương 1: đặt vấn đề và mục tiêu</a:t>
            </a:r>
          </a:p>
          <a:p>
            <a:pPr>
              <a:spcAft>
                <a:spcPts val="1600"/>
              </a:spcAft>
            </a:pPr>
            <a:r>
              <a:rPr sz="2000">
                <a:solidFill>
                  <a:srgbClr val="1F2A37"/>
                </a:solidFill>
                <a:latin typeface="Arial"/>
              </a:rPr>
              <a:t>– Chương 2: cơ sở lý thuyết và công cụ</a:t>
            </a:r>
          </a:p>
          <a:p>
            <a:pPr>
              <a:spcAft>
                <a:spcPts val="1600"/>
              </a:spcAft>
            </a:pPr>
            <a:r>
              <a:rPr sz="2000">
                <a:solidFill>
                  <a:srgbClr val="1F2A37"/>
                </a:solidFill>
                <a:latin typeface="Arial"/>
              </a:rPr>
              <a:t>– Chương 3: dữ liệu, feature, kiến trúc, thực nghiệm</a:t>
            </a:r>
          </a:p>
          <a:p>
            <a:pPr>
              <a:spcAft>
                <a:spcPts val="1600"/>
              </a:spcAft>
            </a:pPr>
            <a:r>
              <a:rPr sz="2000">
                <a:solidFill>
                  <a:srgbClr val="1F2A37"/>
                </a:solidFill>
                <a:latin typeface="Arial"/>
              </a:rPr>
              <a:t>– Chương 3: kết quả trên VALIDATION và TEST</a:t>
            </a:r>
          </a:p>
          <a:p>
            <a:pPr>
              <a:spcAft>
                <a:spcPts val="1600"/>
              </a:spcAft>
            </a:pPr>
            <a:r>
              <a:rPr sz="2000">
                <a:solidFill>
                  <a:srgbClr val="1F2A37"/>
                </a:solidFill>
                <a:latin typeface="Arial"/>
              </a:rPr>
              <a:t>– Chương 4: kết luận, hạn chế, hướng phát triển</a:t>
            </a:r>
          </a:p>
          <a:p>
            <a:pPr>
              <a:spcAft>
                <a:spcPts val="1600"/>
              </a:spcAft>
            </a:pPr>
            <a:r>
              <a:rPr sz="2000">
                <a:solidFill>
                  <a:srgbClr val="1F2A37"/>
                </a:solidFill>
                <a:latin typeface="Arial"/>
              </a:rPr>
              <a:t>– Hỏi đáp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HOSE có 400 mã mỗi phiên, và kết quả dự báo dễ bị rò rỉ dữ liệu</a:t>
            </a:r>
          </a:p>
          <a:p>
            <a:r>
              <a:rPr sz="1400">
                <a:solidFill>
                  <a:srgbClr val="5B6672"/>
                </a:solidFill>
                <a:latin typeface="Arial"/>
              </a:rPr>
              <a:t>Chương 1.1 - Đặt vấn đề</a:t>
            </a:r>
          </a:p>
        </p:txBody>
      </p:sp>
      <p:sp>
        <p:nvSpPr>
          <p:cNvPr id="4" name="TextBox 3"/>
          <p:cNvSpPr txBox="1"/>
          <p:nvPr/>
        </p:nvSpPr>
        <p:spPr>
          <a:xfrm>
            <a:off x="640080" y="1600200"/>
            <a:ext cx="5577840" cy="4023360"/>
          </a:xfrm>
          <a:prstGeom prst="rect">
            <a:avLst/>
          </a:prstGeom>
          <a:noFill/>
        </p:spPr>
        <p:txBody>
          <a:bodyPr wrap="square">
            <a:spAutoFit/>
          </a:bodyPr>
          <a:lstStyle/>
          <a:p>
            <a:pPr>
              <a:spcAft>
                <a:spcPts val="1300"/>
              </a:spcAft>
            </a:pPr>
            <a:r>
              <a:rPr sz="1700">
                <a:solidFill>
                  <a:srgbClr val="1F2A37"/>
                </a:solidFill>
                <a:latin typeface="Arial"/>
              </a:rPr>
              <a:t>– Nhà đầu tư cá nhân không theo kịp toàn sàn</a:t>
            </a:r>
          </a:p>
          <a:p>
            <a:pPr>
              <a:spcAft>
                <a:spcPts val="1300"/>
              </a:spcAft>
            </a:pPr>
            <a:r>
              <a:rPr sz="1700">
                <a:solidFill>
                  <a:srgbClr val="1F2A37"/>
                </a:solidFill>
                <a:latin typeface="Arial"/>
              </a:rPr>
              <a:t>– Chỉ báo kỹ thuật phải tính lại mỗi phiên</a:t>
            </a:r>
          </a:p>
          <a:p>
            <a:pPr>
              <a:spcAft>
                <a:spcPts val="1300"/>
              </a:spcAft>
            </a:pPr>
            <a:r>
              <a:rPr sz="1700">
                <a:solidFill>
                  <a:srgbClr val="1F2A37"/>
                </a:solidFill>
                <a:latin typeface="Arial"/>
              </a:rPr>
              <a:t>– Rò rỉ 1: nhãn lấy theo dòng riêng từng mã</a:t>
            </a:r>
          </a:p>
          <a:p>
            <a:pPr>
              <a:spcAft>
                <a:spcPts val="1300"/>
              </a:spcAft>
            </a:pPr>
            <a:r>
              <a:rPr sz="1700">
                <a:solidFill>
                  <a:srgbClr val="1F2A37"/>
                </a:solidFill>
                <a:latin typeface="Arial"/>
              </a:rPr>
              <a:t>– Rò rỉ 2: CV trộn cùng ngày vào train và test</a:t>
            </a:r>
          </a:p>
          <a:p>
            <a:pPr>
              <a:spcAft>
                <a:spcPts val="1300"/>
              </a:spcAft>
            </a:pPr>
            <a:r>
              <a:rPr sz="1700">
                <a:solidFill>
                  <a:srgbClr val="1F2A37"/>
                </a:solidFill>
                <a:latin typeface="Arial"/>
              </a:rPr>
              <a:t>– Rò rỉ 3: chọn model trên TEST rồi báo cáo TEST</a:t>
            </a:r>
          </a:p>
          <a:p>
            <a:pPr>
              <a:spcAft>
                <a:spcPts val="1300"/>
              </a:spcAft>
            </a:pPr>
            <a:r>
              <a:rPr sz="1700">
                <a:solidFill>
                  <a:srgbClr val="1F2A37"/>
                </a:solidFill>
                <a:latin typeface="Arial"/>
              </a:rPr>
              <a:t>– Cần quy trình thực nghiệm có kỷ luật, không chỉ model</a:t>
            </a:r>
          </a:p>
        </p:txBody>
      </p:sp>
      <p:graphicFrame>
        <p:nvGraphicFramePr>
          <p:cNvPr id="5" name="Table 4"/>
          <p:cNvGraphicFramePr>
            <a:graphicFrameLocks noGrp="1"/>
          </p:cNvGraphicFramePr>
          <p:nvPr/>
        </p:nvGraphicFramePr>
        <p:xfrm>
          <a:off x="6675120" y="1920240"/>
          <a:ext cx="4846320" cy="2194560"/>
        </p:xfrm>
        <a:graphic>
          <a:graphicData uri="http://schemas.openxmlformats.org/drawingml/2006/table">
            <a:tbl>
              <a:tblPr firstRow="1" bandRow="1">
                <a:tableStyleId>{5C22544A-7EE6-4342-B048-85BDC9FD1C3A}</a:tableStyleId>
              </a:tblPr>
              <a:tblGrid>
                <a:gridCol w="2907792"/>
                <a:gridCol w="1938528"/>
              </a:tblGrid>
              <a:tr h="438912">
                <a:tc>
                  <a:txBody>
                    <a:bodyPr/>
                    <a:lstStyle/>
                    <a:p>
                      <a:r>
                        <a:rPr sz="1400" b="1">
                          <a:solidFill>
                            <a:srgbClr val="FFFFFF"/>
                          </a:solidFill>
                          <a:latin typeface="Arial"/>
                        </a:rPr>
                        <a:t>Dữ liệu thô</a:t>
                      </a:r>
                    </a:p>
                  </a:txBody>
                  <a:tcPr anchor="ctr" marL="73152" marR="73152" marT="18288" marB="18288">
                    <a:solidFill>
                      <a:srgbClr val="10243B"/>
                    </a:solidFill>
                  </a:tcPr>
                </a:tc>
                <a:tc>
                  <a:txBody>
                    <a:bodyPr/>
                    <a:lstStyle/>
                    <a:p>
                      <a:pPr algn="ctr"/>
                      <a:r>
                        <a:rPr sz="1400" b="1">
                          <a:solidFill>
                            <a:srgbClr val="FFFFFF"/>
                          </a:solidFill>
                          <a:latin typeface="Arial"/>
                        </a:rPr>
                        <a:t>Giá trị</a:t>
                      </a:r>
                    </a:p>
                  </a:txBody>
                  <a:tcPr anchor="ctr" marL="73152" marR="73152" marT="18288" marB="18288">
                    <a:solidFill>
                      <a:srgbClr val="10243B"/>
                    </a:solidFill>
                  </a:tcPr>
                </a:tc>
              </a:tr>
              <a:tr h="438912">
                <a:tc>
                  <a:txBody>
                    <a:bodyPr/>
                    <a:lstStyle/>
                    <a:p>
                      <a:r>
                        <a:rPr sz="1400" b="0">
                          <a:solidFill>
                            <a:srgbClr val="1F2A37"/>
                          </a:solidFill>
                          <a:latin typeface="Arial"/>
                        </a:rPr>
                        <a:t>Số mã</a:t>
                      </a:r>
                    </a:p>
                  </a:txBody>
                  <a:tcPr anchor="ctr" marL="73152" marR="73152" marT="18288" marB="18288">
                    <a:solidFill>
                      <a:srgbClr val="ECF1F4"/>
                    </a:solidFill>
                  </a:tcPr>
                </a:tc>
                <a:tc>
                  <a:txBody>
                    <a:bodyPr/>
                    <a:lstStyle/>
                    <a:p>
                      <a:pPr algn="ctr"/>
                      <a:r>
                        <a:rPr sz="1400" b="0">
                          <a:solidFill>
                            <a:srgbClr val="1F2A37"/>
                          </a:solidFill>
                          <a:latin typeface="Arial"/>
                        </a:rPr>
                        <a:t>400</a:t>
                      </a:r>
                    </a:p>
                  </a:txBody>
                  <a:tcPr anchor="ctr" marL="73152" marR="73152" marT="18288" marB="18288">
                    <a:solidFill>
                      <a:srgbClr val="ECF1F4"/>
                    </a:solidFill>
                  </a:tcPr>
                </a:tc>
              </a:tr>
              <a:tr h="438912">
                <a:tc>
                  <a:txBody>
                    <a:bodyPr/>
                    <a:lstStyle/>
                    <a:p>
                      <a:r>
                        <a:rPr sz="1400" b="0">
                          <a:solidFill>
                            <a:srgbClr val="1F2A37"/>
                          </a:solidFill>
                          <a:latin typeface="Arial"/>
                        </a:rPr>
                        <a:t>Số dòng OHLCV</a:t>
                      </a:r>
                    </a:p>
                  </a:txBody>
                  <a:tcPr anchor="ctr" marL="73152" marR="73152" marT="18288" marB="18288">
                    <a:solidFill>
                      <a:srgbClr val="FFFFFF"/>
                    </a:solidFill>
                  </a:tcPr>
                </a:tc>
                <a:tc>
                  <a:txBody>
                    <a:bodyPr/>
                    <a:lstStyle/>
                    <a:p>
                      <a:pPr algn="ctr"/>
                      <a:r>
                        <a:rPr sz="1400" b="0">
                          <a:solidFill>
                            <a:srgbClr val="1F2A37"/>
                          </a:solidFill>
                          <a:latin typeface="Arial"/>
                        </a:rPr>
                        <a:t>554.897</a:t>
                      </a:r>
                    </a:p>
                  </a:txBody>
                  <a:tcPr anchor="ctr" marL="73152" marR="73152" marT="18288" marB="18288">
                    <a:solidFill>
                      <a:srgbClr val="FFFFFF"/>
                    </a:solidFill>
                  </a:tcPr>
                </a:tc>
              </a:tr>
              <a:tr h="438912">
                <a:tc>
                  <a:txBody>
                    <a:bodyPr/>
                    <a:lstStyle/>
                    <a:p>
                      <a:r>
                        <a:rPr sz="1400" b="0">
                          <a:solidFill>
                            <a:srgbClr val="1F2A37"/>
                          </a:solidFill>
                          <a:latin typeface="Arial"/>
                        </a:rPr>
                        <a:t>Từ ngày</a:t>
                      </a:r>
                    </a:p>
                  </a:txBody>
                  <a:tcPr anchor="ctr" marL="73152" marR="73152" marT="18288" marB="18288">
                    <a:solidFill>
                      <a:srgbClr val="ECF1F4"/>
                    </a:solidFill>
                  </a:tcPr>
                </a:tc>
                <a:tc>
                  <a:txBody>
                    <a:bodyPr/>
                    <a:lstStyle/>
                    <a:p>
                      <a:pPr algn="ctr"/>
                      <a:r>
                        <a:rPr sz="1400" b="0">
                          <a:solidFill>
                            <a:srgbClr val="1F2A37"/>
                          </a:solidFill>
                          <a:latin typeface="Arial"/>
                        </a:rPr>
                        <a:t>2019-08-14</a:t>
                      </a:r>
                    </a:p>
                  </a:txBody>
                  <a:tcPr anchor="ctr" marL="73152" marR="73152" marT="18288" marB="18288">
                    <a:solidFill>
                      <a:srgbClr val="ECF1F4"/>
                    </a:solidFill>
                  </a:tcPr>
                </a:tc>
              </a:tr>
              <a:tr h="438912">
                <a:tc>
                  <a:txBody>
                    <a:bodyPr/>
                    <a:lstStyle/>
                    <a:p>
                      <a:r>
                        <a:rPr sz="1400" b="0">
                          <a:solidFill>
                            <a:srgbClr val="1F2A37"/>
                          </a:solidFill>
                          <a:latin typeface="Arial"/>
                        </a:rPr>
                        <a:t>Đến ngày</a:t>
                      </a:r>
                    </a:p>
                  </a:txBody>
                  <a:tcPr anchor="ctr" marL="73152" marR="73152" marT="18288" marB="18288">
                    <a:solidFill>
                      <a:srgbClr val="FFFFFF"/>
                    </a:solidFill>
                  </a:tcPr>
                </a:tc>
                <a:tc>
                  <a:txBody>
                    <a:bodyPr/>
                    <a:lstStyle/>
                    <a:p>
                      <a:pPr algn="ctr"/>
                      <a:r>
                        <a:rPr sz="1400" b="0">
                          <a:solidFill>
                            <a:srgbClr val="1F2A37"/>
                          </a:solidFill>
                          <a:latin typeface="Arial"/>
                        </a:rPr>
                        <a:t>2026-07-20</a:t>
                      </a:r>
                    </a:p>
                  </a:txBody>
                  <a:tcPr anchor="ctr" marL="73152" marR="73152" marT="18288" marB="18288">
                    <a:solidFill>
                      <a:srgbClr val="FFFFFF"/>
                    </a:solidFill>
                  </a:tcPr>
                </a:tc>
              </a:tr>
            </a:tbl>
          </a:graphicData>
        </a:graphic>
      </p:graphicFrame>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reports/pipeline_summary.json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Mục tiêu: phân loại UP/NOT_UP cho phiên t+5, kèm giao thức kiểm chứng</a:t>
            </a:r>
          </a:p>
          <a:p>
            <a:r>
              <a:rPr sz="1400">
                <a:solidFill>
                  <a:srgbClr val="5B6672"/>
                </a:solidFill>
                <a:latin typeface="Arial"/>
              </a:rPr>
              <a:t>Chương 1.2 - Mục tiêu và phạm vi</a:t>
            </a:r>
          </a:p>
        </p:txBody>
      </p:sp>
      <p:sp>
        <p:nvSpPr>
          <p:cNvPr id="4" name="TextBox 3"/>
          <p:cNvSpPr txBox="1"/>
          <p:nvPr/>
        </p:nvSpPr>
        <p:spPr>
          <a:xfrm>
            <a:off x="640080" y="1600200"/>
            <a:ext cx="5669280" cy="4023360"/>
          </a:xfrm>
          <a:prstGeom prst="rect">
            <a:avLst/>
          </a:prstGeom>
          <a:noFill/>
        </p:spPr>
        <p:txBody>
          <a:bodyPr wrap="square">
            <a:spAutoFit/>
          </a:bodyPr>
          <a:lstStyle/>
          <a:p>
            <a:pPr>
              <a:spcAft>
                <a:spcPts val="1300"/>
              </a:spcAft>
            </a:pPr>
            <a:r>
              <a:rPr sz="1700">
                <a:solidFill>
                  <a:srgbClr val="1F2A37"/>
                </a:solidFill>
                <a:latin typeface="Arial"/>
              </a:rPr>
              <a:t>– Pipeline từ OHLCV thô đến dataset học máy</a:t>
            </a:r>
          </a:p>
          <a:p>
            <a:pPr>
              <a:spcAft>
                <a:spcPts val="1300"/>
              </a:spcAft>
            </a:pPr>
            <a:r>
              <a:rPr sz="1700">
                <a:solidFill>
                  <a:srgbClr val="1F2A37"/>
                </a:solidFill>
                <a:latin typeface="Arial"/>
              </a:rPr>
              <a:t>– Nhãn theo đúng phiên thị trường thứ năm</a:t>
            </a:r>
          </a:p>
          <a:p>
            <a:pPr>
              <a:spcAft>
                <a:spcPts val="1300"/>
              </a:spcAft>
            </a:pPr>
            <a:r>
              <a:rPr sz="1700">
                <a:solidFill>
                  <a:srgbClr val="1F2A37"/>
                </a:solidFill>
                <a:latin typeface="Arial"/>
              </a:rPr>
              <a:t>– Chia dữ liệu theo thời gian, có purge nhãn</a:t>
            </a:r>
          </a:p>
          <a:p>
            <a:pPr>
              <a:spcAft>
                <a:spcPts val="1300"/>
              </a:spcAft>
            </a:pPr>
            <a:r>
              <a:rPr sz="1700">
                <a:solidFill>
                  <a:srgbClr val="1F2A37"/>
                </a:solidFill>
                <a:latin typeface="Arial"/>
              </a:rPr>
              <a:t>– Tuning ba model bằng CV chuỗi thời gian</a:t>
            </a:r>
          </a:p>
          <a:p>
            <a:pPr>
              <a:spcAft>
                <a:spcPts val="1300"/>
              </a:spcAft>
            </a:pPr>
            <a:r>
              <a:rPr sz="1700">
                <a:solidFill>
                  <a:srgbClr val="1F2A37"/>
                </a:solidFill>
                <a:latin typeface="Arial"/>
              </a:rPr>
              <a:t>– Chọn model trên VALIDATION, chấm TEST một lần</a:t>
            </a:r>
          </a:p>
          <a:p>
            <a:pPr>
              <a:spcAft>
                <a:spcPts val="1300"/>
              </a:spcAft>
            </a:pPr>
            <a:r>
              <a:rPr sz="1700">
                <a:solidFill>
                  <a:srgbClr val="1F2A37"/>
                </a:solidFill>
                <a:latin typeface="Arial"/>
              </a:rPr>
              <a:t>– Web Flask, chatbot nội bộ và bộ kiểm thử tự động</a:t>
            </a:r>
          </a:p>
        </p:txBody>
      </p:sp>
      <p:graphicFrame>
        <p:nvGraphicFramePr>
          <p:cNvPr id="5" name="Table 4"/>
          <p:cNvGraphicFramePr>
            <a:graphicFrameLocks noGrp="1"/>
          </p:cNvGraphicFramePr>
          <p:nvPr/>
        </p:nvGraphicFramePr>
        <p:xfrm>
          <a:off x="6766560" y="1920240"/>
          <a:ext cx="4754880" cy="2194560"/>
        </p:xfrm>
        <a:graphic>
          <a:graphicData uri="http://schemas.openxmlformats.org/drawingml/2006/table">
            <a:tbl>
              <a:tblPr firstRow="1" bandRow="1">
                <a:tableStyleId>{5C22544A-7EE6-4342-B048-85BDC9FD1C3A}</a:tableStyleId>
              </a:tblPr>
              <a:tblGrid>
                <a:gridCol w="2852928"/>
                <a:gridCol w="1901952"/>
              </a:tblGrid>
              <a:tr h="438912">
                <a:tc>
                  <a:txBody>
                    <a:bodyPr/>
                    <a:lstStyle/>
                    <a:p>
                      <a:r>
                        <a:rPr sz="1400" b="1">
                          <a:solidFill>
                            <a:srgbClr val="FFFFFF"/>
                          </a:solidFill>
                          <a:latin typeface="Arial"/>
                        </a:rPr>
                        <a:t>Định nghĩa bài toán</a:t>
                      </a:r>
                    </a:p>
                  </a:txBody>
                  <a:tcPr anchor="ctr" marL="73152" marR="73152" marT="18288" marB="18288">
                    <a:solidFill>
                      <a:srgbClr val="10243B"/>
                    </a:solidFill>
                  </a:tcPr>
                </a:tc>
                <a:tc>
                  <a:txBody>
                    <a:bodyPr/>
                    <a:lstStyle/>
                    <a:p>
                      <a:pPr algn="ctr"/>
                      <a:r>
                        <a:rPr sz="1400" b="1">
                          <a:solidFill>
                            <a:srgbClr val="FFFFFF"/>
                          </a:solidFill>
                          <a:latin typeface="Arial"/>
                        </a:rPr>
                        <a:t>Giá trị</a:t>
                      </a:r>
                    </a:p>
                  </a:txBody>
                  <a:tcPr anchor="ctr" marL="73152" marR="73152" marT="18288" marB="18288">
                    <a:solidFill>
                      <a:srgbClr val="10243B"/>
                    </a:solidFill>
                  </a:tcPr>
                </a:tc>
              </a:tr>
              <a:tr h="438912">
                <a:tc>
                  <a:txBody>
                    <a:bodyPr/>
                    <a:lstStyle/>
                    <a:p>
                      <a:r>
                        <a:rPr sz="1400" b="0">
                          <a:solidFill>
                            <a:srgbClr val="1F2A37"/>
                          </a:solidFill>
                          <a:latin typeface="Arial"/>
                        </a:rPr>
                        <a:t>Loại bài toán</a:t>
                      </a:r>
                    </a:p>
                  </a:txBody>
                  <a:tcPr anchor="ctr" marL="73152" marR="73152" marT="18288" marB="18288">
                    <a:solidFill>
                      <a:srgbClr val="ECF1F4"/>
                    </a:solidFill>
                  </a:tcPr>
                </a:tc>
                <a:tc>
                  <a:txBody>
                    <a:bodyPr/>
                    <a:lstStyle/>
                    <a:p>
                      <a:pPr algn="ctr"/>
                      <a:r>
                        <a:rPr sz="1400" b="0">
                          <a:solidFill>
                            <a:srgbClr val="1F2A37"/>
                          </a:solidFill>
                          <a:latin typeface="Arial"/>
                        </a:rPr>
                        <a:t>Phân loại nhị phân</a:t>
                      </a:r>
                    </a:p>
                  </a:txBody>
                  <a:tcPr anchor="ctr" marL="73152" marR="73152" marT="18288" marB="18288">
                    <a:solidFill>
                      <a:srgbClr val="ECF1F4"/>
                    </a:solidFill>
                  </a:tcPr>
                </a:tc>
              </a:tr>
              <a:tr h="438912">
                <a:tc>
                  <a:txBody>
                    <a:bodyPr/>
                    <a:lstStyle/>
                    <a:p>
                      <a:r>
                        <a:rPr sz="1400" b="0">
                          <a:solidFill>
                            <a:srgbClr val="1F2A37"/>
                          </a:solidFill>
                          <a:latin typeface="Arial"/>
                        </a:rPr>
                        <a:t>Horizon</a:t>
                      </a:r>
                    </a:p>
                  </a:txBody>
                  <a:tcPr anchor="ctr" marL="73152" marR="73152" marT="18288" marB="18288">
                    <a:solidFill>
                      <a:srgbClr val="FFFFFF"/>
                    </a:solidFill>
                  </a:tcPr>
                </a:tc>
                <a:tc>
                  <a:txBody>
                    <a:bodyPr/>
                    <a:lstStyle/>
                    <a:p>
                      <a:pPr algn="ctr"/>
                      <a:r>
                        <a:rPr sz="1400" b="0">
                          <a:solidFill>
                            <a:srgbClr val="1F2A37"/>
                          </a:solidFill>
                          <a:latin typeface="Arial"/>
                        </a:rPr>
                        <a:t>5 phiên</a:t>
                      </a:r>
                    </a:p>
                  </a:txBody>
                  <a:tcPr anchor="ctr" marL="73152" marR="73152" marT="18288" marB="18288">
                    <a:solidFill>
                      <a:srgbClr val="FFFFFF"/>
                    </a:solidFill>
                  </a:tcPr>
                </a:tc>
              </a:tr>
              <a:tr h="438912">
                <a:tc>
                  <a:txBody>
                    <a:bodyPr/>
                    <a:lstStyle/>
                    <a:p>
                      <a:r>
                        <a:rPr sz="1400" b="0">
                          <a:solidFill>
                            <a:srgbClr val="1F2A37"/>
                          </a:solidFill>
                          <a:latin typeface="Arial"/>
                        </a:rPr>
                        <a:t>Ngưỡng UP</a:t>
                      </a:r>
                    </a:p>
                  </a:txBody>
                  <a:tcPr anchor="ctr" marL="73152" marR="73152" marT="18288" marB="18288">
                    <a:solidFill>
                      <a:srgbClr val="ECF1F4"/>
                    </a:solidFill>
                  </a:tcPr>
                </a:tc>
                <a:tc>
                  <a:txBody>
                    <a:bodyPr/>
                    <a:lstStyle/>
                    <a:p>
                      <a:pPr algn="ctr"/>
                      <a:r>
                        <a:rPr sz="1400" b="0">
                          <a:solidFill>
                            <a:srgbClr val="1F2A37"/>
                          </a:solidFill>
                          <a:latin typeface="Arial"/>
                        </a:rPr>
                        <a:t>&gt; 1,0%</a:t>
                      </a:r>
                    </a:p>
                  </a:txBody>
                  <a:tcPr anchor="ctr" marL="73152" marR="73152" marT="18288" marB="18288">
                    <a:solidFill>
                      <a:srgbClr val="ECF1F4"/>
                    </a:solidFill>
                  </a:tcPr>
                </a:tc>
              </a:tr>
              <a:tr h="438912">
                <a:tc>
                  <a:txBody>
                    <a:bodyPr/>
                    <a:lstStyle/>
                    <a:p>
                      <a:r>
                        <a:rPr sz="1400" b="0">
                          <a:solidFill>
                            <a:srgbClr val="1F2A37"/>
                          </a:solidFill>
                          <a:latin typeface="Arial"/>
                        </a:rPr>
                        <a:t>Phạm vi dữ liệu</a:t>
                      </a:r>
                    </a:p>
                  </a:txBody>
                  <a:tcPr anchor="ctr" marL="73152" marR="73152" marT="18288" marB="18288">
                    <a:solidFill>
                      <a:srgbClr val="FFFFFF"/>
                    </a:solidFill>
                  </a:tcPr>
                </a:tc>
                <a:tc>
                  <a:txBody>
                    <a:bodyPr/>
                    <a:lstStyle/>
                    <a:p>
                      <a:pPr algn="ctr"/>
                      <a:r>
                        <a:rPr sz="1400" b="0">
                          <a:solidFill>
                            <a:srgbClr val="1F2A37"/>
                          </a:solidFill>
                          <a:latin typeface="Arial"/>
                        </a:rPr>
                        <a:t>Chỉ giá và khối lượng</a:t>
                      </a:r>
                    </a:p>
                  </a:txBody>
                  <a:tcPr anchor="ctr" marL="73152" marR="73152" marT="18288" marB="18288">
                    <a:solidFill>
                      <a:srgbClr val="FFFFFF"/>
                    </a:solidFill>
                  </a:tcPr>
                </a:tc>
              </a:tr>
            </a:tbl>
          </a:graphicData>
        </a:graphic>
      </p:graphicFrame>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config/settings.py, reports/pipeline_summary.json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Cơ sở lý thuyết: ba họ mô hình bảng, đo bằng F1 cho lớp UP</a:t>
            </a:r>
          </a:p>
          <a:p>
            <a:r>
              <a:rPr sz="1400">
                <a:solidFill>
                  <a:srgbClr val="5B6672"/>
                </a:solidFill>
                <a:latin typeface="Arial"/>
              </a:rPr>
              <a:t>Chương 2 - Cơ sở lý thuyết và công cụ</a:t>
            </a:r>
          </a:p>
        </p:txBody>
      </p:sp>
      <p:sp>
        <p:nvSpPr>
          <p:cNvPr id="4" name="TextBox 3"/>
          <p:cNvSpPr txBox="1"/>
          <p:nvPr/>
        </p:nvSpPr>
        <p:spPr>
          <a:xfrm>
            <a:off x="640080" y="1600200"/>
            <a:ext cx="5669280" cy="4023360"/>
          </a:xfrm>
          <a:prstGeom prst="rect">
            <a:avLst/>
          </a:prstGeom>
          <a:noFill/>
        </p:spPr>
        <p:txBody>
          <a:bodyPr wrap="square">
            <a:spAutoFit/>
          </a:bodyPr>
          <a:lstStyle/>
          <a:p>
            <a:pPr>
              <a:spcAft>
                <a:spcPts val="1300"/>
              </a:spcAft>
            </a:pPr>
            <a:r>
              <a:rPr sz="1700">
                <a:solidFill>
                  <a:srgbClr val="1F2A37"/>
                </a:solidFill>
                <a:latin typeface="Arial"/>
              </a:rPr>
              <a:t>– Logistic Regression: tuyến tính, làm mốc tham chiếu</a:t>
            </a:r>
          </a:p>
          <a:p>
            <a:pPr>
              <a:spcAft>
                <a:spcPts val="1300"/>
              </a:spcAft>
            </a:pPr>
            <a:r>
              <a:rPr sz="1700">
                <a:solidFill>
                  <a:srgbClr val="1F2A37"/>
                </a:solidFill>
                <a:latin typeface="Arial"/>
              </a:rPr>
              <a:t>– Random Forest: bagging, giảm variance</a:t>
            </a:r>
          </a:p>
          <a:p>
            <a:pPr>
              <a:spcAft>
                <a:spcPts val="1300"/>
              </a:spcAft>
            </a:pPr>
            <a:r>
              <a:rPr sz="1700">
                <a:solidFill>
                  <a:srgbClr val="1F2A37"/>
                </a:solidFill>
                <a:latin typeface="Arial"/>
              </a:rPr>
              <a:t>– Gradient Boosting: boosting tuần tự trên cây nông</a:t>
            </a:r>
          </a:p>
          <a:p>
            <a:pPr>
              <a:spcAft>
                <a:spcPts val="1300"/>
              </a:spcAft>
            </a:pPr>
            <a:r>
              <a:rPr sz="1700">
                <a:solidFill>
                  <a:srgbClr val="1F2A37"/>
                </a:solidFill>
                <a:latin typeface="Arial"/>
              </a:rPr>
              <a:t>– Chỉ báo kỹ thuật: SMA, RSI, volatility, vị thế giá</a:t>
            </a:r>
          </a:p>
          <a:p>
            <a:pPr>
              <a:spcAft>
                <a:spcPts val="1300"/>
              </a:spcAft>
            </a:pPr>
            <a:r>
              <a:rPr sz="1700">
                <a:solidFill>
                  <a:srgbClr val="1F2A37"/>
                </a:solidFill>
                <a:latin typeface="Arial"/>
              </a:rPr>
              <a:t>– Metric chính là F1_UP vì lớp UP thiểu số</a:t>
            </a:r>
          </a:p>
          <a:p>
            <a:pPr>
              <a:spcAft>
                <a:spcPts val="1300"/>
              </a:spcAft>
            </a:pPr>
            <a:r>
              <a:rPr sz="1700">
                <a:solidFill>
                  <a:srgbClr val="1F2A37"/>
                </a:solidFill>
                <a:latin typeface="Arial"/>
              </a:rPr>
              <a:t>– Baseline hằng số always-UP và always-NOT_UP</a:t>
            </a:r>
          </a:p>
        </p:txBody>
      </p:sp>
      <p:graphicFrame>
        <p:nvGraphicFramePr>
          <p:cNvPr id="5" name="Table 4"/>
          <p:cNvGraphicFramePr>
            <a:graphicFrameLocks noGrp="1"/>
          </p:cNvGraphicFramePr>
          <p:nvPr/>
        </p:nvGraphicFramePr>
        <p:xfrm>
          <a:off x="6766560" y="1874519"/>
          <a:ext cx="4754880" cy="2651760"/>
        </p:xfrm>
        <a:graphic>
          <a:graphicData uri="http://schemas.openxmlformats.org/drawingml/2006/table">
            <a:tbl>
              <a:tblPr firstRow="1" bandRow="1">
                <a:tableStyleId>{5C22544A-7EE6-4342-B048-85BDC9FD1C3A}</a:tableStyleId>
              </a:tblPr>
              <a:tblGrid>
                <a:gridCol w="2377440"/>
                <a:gridCol w="2377440"/>
              </a:tblGrid>
              <a:tr h="441960">
                <a:tc>
                  <a:txBody>
                    <a:bodyPr/>
                    <a:lstStyle/>
                    <a:p>
                      <a:r>
                        <a:rPr sz="1400" b="1">
                          <a:solidFill>
                            <a:srgbClr val="FFFFFF"/>
                          </a:solidFill>
                          <a:latin typeface="Arial"/>
                        </a:rPr>
                        <a:t>Công cụ</a:t>
                      </a:r>
                    </a:p>
                  </a:txBody>
                  <a:tcPr anchor="ctr" marL="73152" marR="73152" marT="18288" marB="18288">
                    <a:solidFill>
                      <a:srgbClr val="10243B"/>
                    </a:solidFill>
                  </a:tcPr>
                </a:tc>
                <a:tc>
                  <a:txBody>
                    <a:bodyPr/>
                    <a:lstStyle/>
                    <a:p>
                      <a:pPr algn="ctr"/>
                      <a:r>
                        <a:rPr sz="1400" b="1">
                          <a:solidFill>
                            <a:srgbClr val="FFFFFF"/>
                          </a:solidFill>
                          <a:latin typeface="Arial"/>
                        </a:rPr>
                        <a:t>Vai trò</a:t>
                      </a:r>
                    </a:p>
                  </a:txBody>
                  <a:tcPr anchor="ctr" marL="73152" marR="73152" marT="18288" marB="18288">
                    <a:solidFill>
                      <a:srgbClr val="10243B"/>
                    </a:solidFill>
                  </a:tcPr>
                </a:tc>
              </a:tr>
              <a:tr h="441960">
                <a:tc>
                  <a:txBody>
                    <a:bodyPr/>
                    <a:lstStyle/>
                    <a:p>
                      <a:r>
                        <a:rPr sz="1400" b="0">
                          <a:solidFill>
                            <a:srgbClr val="1F2A37"/>
                          </a:solidFill>
                          <a:latin typeface="Arial"/>
                        </a:rPr>
                        <a:t>scikit-learn</a:t>
                      </a:r>
                    </a:p>
                  </a:txBody>
                  <a:tcPr anchor="ctr" marL="73152" marR="73152" marT="18288" marB="18288">
                    <a:solidFill>
                      <a:srgbClr val="ECF1F4"/>
                    </a:solidFill>
                  </a:tcPr>
                </a:tc>
                <a:tc>
                  <a:txBody>
                    <a:bodyPr/>
                    <a:lstStyle/>
                    <a:p>
                      <a:pPr algn="ctr"/>
                      <a:r>
                        <a:rPr sz="1400" b="0">
                          <a:solidFill>
                            <a:srgbClr val="1F2A37"/>
                          </a:solidFill>
                          <a:latin typeface="Arial"/>
                        </a:rPr>
                        <a:t>Model, CV, metric</a:t>
                      </a:r>
                    </a:p>
                  </a:txBody>
                  <a:tcPr anchor="ctr" marL="73152" marR="73152" marT="18288" marB="18288">
                    <a:solidFill>
                      <a:srgbClr val="ECF1F4"/>
                    </a:solidFill>
                  </a:tcPr>
                </a:tc>
              </a:tr>
              <a:tr h="441960">
                <a:tc>
                  <a:txBody>
                    <a:bodyPr/>
                    <a:lstStyle/>
                    <a:p>
                      <a:r>
                        <a:rPr sz="1400" b="0">
                          <a:solidFill>
                            <a:srgbClr val="1F2A37"/>
                          </a:solidFill>
                          <a:latin typeface="Arial"/>
                        </a:rPr>
                        <a:t>pandas, numpy</a:t>
                      </a:r>
                    </a:p>
                  </a:txBody>
                  <a:tcPr anchor="ctr" marL="73152" marR="73152" marT="18288" marB="18288">
                    <a:solidFill>
                      <a:srgbClr val="FFFFFF"/>
                    </a:solidFill>
                  </a:tcPr>
                </a:tc>
                <a:tc>
                  <a:txBody>
                    <a:bodyPr/>
                    <a:lstStyle/>
                    <a:p>
                      <a:pPr algn="ctr"/>
                      <a:r>
                        <a:rPr sz="1400" b="0">
                          <a:solidFill>
                            <a:srgbClr val="1F2A37"/>
                          </a:solidFill>
                          <a:latin typeface="Arial"/>
                        </a:rPr>
                        <a:t>Xử lý bảng dữ liệu</a:t>
                      </a:r>
                    </a:p>
                  </a:txBody>
                  <a:tcPr anchor="ctr" marL="73152" marR="73152" marT="18288" marB="18288">
                    <a:solidFill>
                      <a:srgbClr val="FFFFFF"/>
                    </a:solidFill>
                  </a:tcPr>
                </a:tc>
              </a:tr>
              <a:tr h="441960">
                <a:tc>
                  <a:txBody>
                    <a:bodyPr/>
                    <a:lstStyle/>
                    <a:p>
                      <a:r>
                        <a:rPr sz="1400" b="0">
                          <a:solidFill>
                            <a:srgbClr val="1F2A37"/>
                          </a:solidFill>
                          <a:latin typeface="Arial"/>
                        </a:rPr>
                        <a:t>Flask</a:t>
                      </a:r>
                    </a:p>
                  </a:txBody>
                  <a:tcPr anchor="ctr" marL="73152" marR="73152" marT="18288" marB="18288">
                    <a:solidFill>
                      <a:srgbClr val="ECF1F4"/>
                    </a:solidFill>
                  </a:tcPr>
                </a:tc>
                <a:tc>
                  <a:txBody>
                    <a:bodyPr/>
                    <a:lstStyle/>
                    <a:p>
                      <a:pPr algn="ctr"/>
                      <a:r>
                        <a:rPr sz="1400" b="0">
                          <a:solidFill>
                            <a:srgbClr val="1F2A37"/>
                          </a:solidFill>
                          <a:latin typeface="Arial"/>
                        </a:rPr>
                        <a:t>Web dự báo, đánh giá</a:t>
                      </a:r>
                    </a:p>
                  </a:txBody>
                  <a:tcPr anchor="ctr" marL="73152" marR="73152" marT="18288" marB="18288">
                    <a:solidFill>
                      <a:srgbClr val="ECF1F4"/>
                    </a:solidFill>
                  </a:tcPr>
                </a:tc>
              </a:tr>
              <a:tr h="441960">
                <a:tc>
                  <a:txBody>
                    <a:bodyPr/>
                    <a:lstStyle/>
                    <a:p>
                      <a:r>
                        <a:rPr sz="1400" b="0">
                          <a:solidFill>
                            <a:srgbClr val="1F2A37"/>
                          </a:solidFill>
                          <a:latin typeface="Arial"/>
                        </a:rPr>
                        <a:t>matplotlib</a:t>
                      </a:r>
                    </a:p>
                  </a:txBody>
                  <a:tcPr anchor="ctr" marL="73152" marR="73152" marT="18288" marB="18288">
                    <a:solidFill>
                      <a:srgbClr val="FFFFFF"/>
                    </a:solidFill>
                  </a:tcPr>
                </a:tc>
                <a:tc>
                  <a:txBody>
                    <a:bodyPr/>
                    <a:lstStyle/>
                    <a:p>
                      <a:pPr algn="ctr"/>
                      <a:r>
                        <a:rPr sz="1400" b="0">
                          <a:solidFill>
                            <a:srgbClr val="1F2A37"/>
                          </a:solidFill>
                          <a:latin typeface="Arial"/>
                        </a:rPr>
                        <a:t>Vẽ confusion matrix</a:t>
                      </a:r>
                    </a:p>
                  </a:txBody>
                  <a:tcPr anchor="ctr" marL="73152" marR="73152" marT="18288" marB="18288">
                    <a:solidFill>
                      <a:srgbClr val="FFFFFF"/>
                    </a:solidFill>
                  </a:tcPr>
                </a:tc>
              </a:tr>
              <a:tr h="441960">
                <a:tc>
                  <a:txBody>
                    <a:bodyPr/>
                    <a:lstStyle/>
                    <a:p>
                      <a:r>
                        <a:rPr sz="1400" b="0">
                          <a:solidFill>
                            <a:srgbClr val="1F2A37"/>
                          </a:solidFill>
                          <a:latin typeface="Arial"/>
                        </a:rPr>
                        <a:t>vnstock</a:t>
                      </a:r>
                    </a:p>
                  </a:txBody>
                  <a:tcPr anchor="ctr" marL="73152" marR="73152" marT="18288" marB="18288">
                    <a:solidFill>
                      <a:srgbClr val="ECF1F4"/>
                    </a:solidFill>
                  </a:tcPr>
                </a:tc>
                <a:tc>
                  <a:txBody>
                    <a:bodyPr/>
                    <a:lstStyle/>
                    <a:p>
                      <a:pPr algn="ctr"/>
                      <a:r>
                        <a:rPr sz="1400" b="0">
                          <a:solidFill>
                            <a:srgbClr val="1F2A37"/>
                          </a:solidFill>
                          <a:latin typeface="Arial"/>
                        </a:rPr>
                        <a:t>Thu thập OHLCV</a:t>
                      </a:r>
                    </a:p>
                  </a:txBody>
                  <a:tcPr anchor="ctr" marL="73152" marR="73152" marT="18288" marB="18288">
                    <a:solidFill>
                      <a:srgbClr val="ECF1F4"/>
                    </a:solidFill>
                  </a:tcPr>
                </a:tc>
              </a:tr>
            </a:tbl>
          </a:graphicData>
        </a:graphic>
      </p:graphicFrame>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requirements.txt, services/model_tuning.py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Từ 554.897 dòng thô còn 510.862 dòng có nhãn hợp lệ</a:t>
            </a:r>
          </a:p>
          <a:p>
            <a:r>
              <a:rPr sz="1400">
                <a:solidFill>
                  <a:srgbClr val="5B6672"/>
                </a:solidFill>
                <a:latin typeface="Arial"/>
              </a:rPr>
              <a:t>Chương 3 - Làm sạch và lọc mã đủ điều kiện</a:t>
            </a:r>
          </a:p>
        </p:txBody>
      </p:sp>
      <p:sp>
        <p:nvSpPr>
          <p:cNvPr id="4" name="TextBox 3"/>
          <p:cNvSpPr txBox="1"/>
          <p:nvPr/>
        </p:nvSpPr>
        <p:spPr>
          <a:xfrm>
            <a:off x="640080" y="1554480"/>
            <a:ext cx="4572000" cy="4023360"/>
          </a:xfrm>
          <a:prstGeom prst="rect">
            <a:avLst/>
          </a:prstGeom>
          <a:noFill/>
        </p:spPr>
        <p:txBody>
          <a:bodyPr wrap="square">
            <a:spAutoFit/>
          </a:bodyPr>
          <a:lstStyle/>
          <a:p>
            <a:pPr>
              <a:spcAft>
                <a:spcPts val="1300"/>
              </a:spcAft>
            </a:pPr>
            <a:r>
              <a:rPr sz="1700">
                <a:solidFill>
                  <a:srgbClr val="1F2A37"/>
                </a:solidFill>
                <a:latin typeface="Arial"/>
              </a:rPr>
              <a:t>– Nguồn: OHLCV tải qua vnstock, lưu CSV chia sẻ</a:t>
            </a:r>
          </a:p>
          <a:p>
            <a:pPr>
              <a:spcAft>
                <a:spcPts val="1300"/>
              </a:spcAft>
            </a:pPr>
            <a:r>
              <a:rPr sz="1700">
                <a:solidFill>
                  <a:srgbClr val="1F2A37"/>
                </a:solidFill>
                <a:latin typeface="Arial"/>
              </a:rPr>
              <a:t>– Loại nến sai logic OHLC</a:t>
            </a:r>
          </a:p>
          <a:p>
            <a:pPr>
              <a:spcAft>
                <a:spcPts val="1300"/>
              </a:spcAft>
            </a:pPr>
            <a:r>
              <a:rPr sz="1700">
                <a:solidFill>
                  <a:srgbClr val="1F2A37"/>
                </a:solidFill>
                <a:latin typeface="Arial"/>
              </a:rPr>
              <a:t>– Bỏ mã dưới 250 phiên giao dịch</a:t>
            </a:r>
          </a:p>
          <a:p>
            <a:pPr>
              <a:spcAft>
                <a:spcPts val="1300"/>
              </a:spcAft>
            </a:pPr>
            <a:r>
              <a:rPr sz="1700">
                <a:solidFill>
                  <a:srgbClr val="1F2A37"/>
                </a:solidFill>
                <a:latin typeface="Arial"/>
              </a:rPr>
              <a:t>– Cần đủ 50 phiên lịch sử cho rolling feature</a:t>
            </a:r>
          </a:p>
          <a:p>
            <a:pPr>
              <a:spcAft>
                <a:spcPts val="1300"/>
              </a:spcAft>
            </a:pPr>
            <a:r>
              <a:rPr sz="1700">
                <a:solidFill>
                  <a:srgbClr val="1F2A37"/>
                </a:solidFill>
                <a:latin typeface="Arial"/>
              </a:rPr>
              <a:t>– Bỏ dòng thiếu giá tại phiên đích t+5</a:t>
            </a:r>
          </a:p>
          <a:p>
            <a:pPr>
              <a:spcAft>
                <a:spcPts val="1300"/>
              </a:spcAft>
            </a:pPr>
            <a:r>
              <a:rPr sz="1700">
                <a:solidFill>
                  <a:srgbClr val="1F2A37"/>
                </a:solidFill>
                <a:latin typeface="Arial"/>
              </a:rPr>
              <a:t>– Không dòng nào trùng mã và ngày</a:t>
            </a:r>
          </a:p>
        </p:txBody>
      </p:sp>
      <p:pic>
        <p:nvPicPr>
          <p:cNvPr id="5" name="Picture 4" descr="data_funnel.png"/>
          <p:cNvPicPr>
            <a:picLocks noChangeAspect="1"/>
          </p:cNvPicPr>
          <p:nvPr/>
        </p:nvPicPr>
        <p:blipFill>
          <a:blip r:embed="rId2"/>
          <a:stretch>
            <a:fillRect/>
          </a:stretch>
        </p:blipFill>
        <p:spPr>
          <a:xfrm>
            <a:off x="5394960" y="2162305"/>
            <a:ext cx="6309359" cy="2899150"/>
          </a:xfrm>
          <a:prstGeom prst="rect">
            <a:avLst/>
          </a:prstGeom>
        </p:spPr>
      </p:pic>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reports/pipeline_summary.json (dataset_report, clean_report), scripts/fetch_hose_data.py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Nhãn t+5 tính trên lịch phiên chung, tỷ lệ UP chỉ 37,6%</a:t>
            </a:r>
          </a:p>
          <a:p>
            <a:r>
              <a:rPr sz="1400">
                <a:solidFill>
                  <a:srgbClr val="5B6672"/>
                </a:solidFill>
                <a:latin typeface="Arial"/>
              </a:rPr>
              <a:t>Chương 3 - Định nghĩa nhãn chống rò rỉ</a:t>
            </a:r>
          </a:p>
        </p:txBody>
      </p:sp>
      <p:sp>
        <p:nvSpPr>
          <p:cNvPr id="4" name="TextBox 3"/>
          <p:cNvSpPr txBox="1"/>
          <p:nvPr/>
        </p:nvSpPr>
        <p:spPr>
          <a:xfrm>
            <a:off x="640080" y="1554480"/>
            <a:ext cx="5120640" cy="4023360"/>
          </a:xfrm>
          <a:prstGeom prst="rect">
            <a:avLst/>
          </a:prstGeom>
          <a:noFill/>
        </p:spPr>
        <p:txBody>
          <a:bodyPr wrap="square">
            <a:spAutoFit/>
          </a:bodyPr>
          <a:lstStyle/>
          <a:p>
            <a:pPr>
              <a:spcAft>
                <a:spcPts val="1200"/>
              </a:spcAft>
            </a:pPr>
            <a:r>
              <a:rPr sz="1700">
                <a:solidFill>
                  <a:srgbClr val="1F2A37"/>
                </a:solidFill>
                <a:latin typeface="Arial"/>
              </a:rPr>
              <a:t>– Lịch phiên lấy từ toàn bộ dữ liệu đã làm sạch</a:t>
            </a:r>
          </a:p>
          <a:p>
            <a:pPr>
              <a:spcAft>
                <a:spcPts val="1200"/>
              </a:spcAft>
            </a:pPr>
            <a:r>
              <a:rPr sz="1700">
                <a:solidFill>
                  <a:srgbClr val="1F2A37"/>
                </a:solidFill>
                <a:latin typeface="Arial"/>
              </a:rPr>
              <a:t>– Phiên đích là phiên thị trường thứ năm</a:t>
            </a:r>
          </a:p>
          <a:p>
            <a:pPr>
              <a:spcAft>
                <a:spcPts val="1200"/>
              </a:spcAft>
            </a:pPr>
            <a:r>
              <a:rPr sz="1700">
                <a:solidFill>
                  <a:srgbClr val="1F2A37"/>
                </a:solidFill>
                <a:latin typeface="Arial"/>
              </a:rPr>
              <a:t>– Mã thiếu giá tại phiên đích thì bỏ dòng</a:t>
            </a:r>
          </a:p>
          <a:p>
            <a:pPr>
              <a:spcAft>
                <a:spcPts val="1200"/>
              </a:spcAft>
            </a:pPr>
            <a:r>
              <a:rPr sz="1700">
                <a:solidFill>
                  <a:srgbClr val="1F2A37"/>
                </a:solidFill>
                <a:latin typeface="Arial"/>
              </a:rPr>
              <a:t>– Không nhảy sang phiên kế tiếp để lấp</a:t>
            </a:r>
          </a:p>
          <a:p>
            <a:pPr>
              <a:spcAft>
                <a:spcPts val="1200"/>
              </a:spcAft>
            </a:pPr>
            <a:r>
              <a:rPr sz="1700">
                <a:solidFill>
                  <a:srgbClr val="1F2A37"/>
                </a:solidFill>
                <a:latin typeface="Arial"/>
              </a:rPr>
              <a:t>– label_end_date lưu lại để purge khi chia dữ liệu</a:t>
            </a:r>
          </a:p>
          <a:p>
            <a:pPr>
              <a:spcAft>
                <a:spcPts val="1200"/>
              </a:spcAft>
            </a:pPr>
            <a:r>
              <a:rPr sz="1700">
                <a:solidFill>
                  <a:srgbClr val="1F2A37"/>
                </a:solidFill>
                <a:latin typeface="Arial"/>
              </a:rPr>
              <a:t>– Lớp UP thiểu số nên chọn F1_UP làm metric</a:t>
            </a:r>
          </a:p>
        </p:txBody>
      </p:sp>
      <p:pic>
        <p:nvPicPr>
          <p:cNvPr id="5" name="Picture 4" descr="label_balance.png"/>
          <p:cNvPicPr>
            <a:picLocks noChangeAspect="1"/>
          </p:cNvPicPr>
          <p:nvPr/>
        </p:nvPicPr>
        <p:blipFill>
          <a:blip r:embed="rId2"/>
          <a:stretch>
            <a:fillRect/>
          </a:stretch>
        </p:blipFill>
        <p:spPr>
          <a:xfrm>
            <a:off x="6237514" y="1600200"/>
            <a:ext cx="5172891" cy="4023360"/>
          </a:xfrm>
          <a:prstGeom prst="rect">
            <a:avLst/>
          </a:prstGeom>
        </p:spPr>
      </p:pic>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services/feature_engineering.py, reports/pipeline_summary.json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20 feature kỹ thuật, mỗi feature chỉ dùng dòng hiện tại và quá khứ</a:t>
            </a:r>
          </a:p>
          <a:p>
            <a:r>
              <a:rPr sz="1400">
                <a:solidFill>
                  <a:srgbClr val="5B6672"/>
                </a:solidFill>
                <a:latin typeface="Arial"/>
              </a:rPr>
              <a:t>Chương 3 - Feature engineering</a:t>
            </a:r>
          </a:p>
        </p:txBody>
      </p:sp>
      <p:graphicFrame>
        <p:nvGraphicFramePr>
          <p:cNvPr id="4" name="Table 3"/>
          <p:cNvGraphicFramePr>
            <a:graphicFrameLocks noGrp="1"/>
          </p:cNvGraphicFramePr>
          <p:nvPr/>
        </p:nvGraphicFramePr>
        <p:xfrm>
          <a:off x="640080" y="1600200"/>
          <a:ext cx="10881360" cy="3566160"/>
        </p:xfrm>
        <a:graphic>
          <a:graphicData uri="http://schemas.openxmlformats.org/drawingml/2006/table">
            <a:tbl>
              <a:tblPr firstRow="1" bandRow="1">
                <a:tableStyleId>{5C22544A-7EE6-4342-B048-85BDC9FD1C3A}</a:tableStyleId>
              </a:tblPr>
              <a:tblGrid>
                <a:gridCol w="2720340"/>
                <a:gridCol w="8161020"/>
              </a:tblGrid>
              <a:tr h="445770">
                <a:tc>
                  <a:txBody>
                    <a:bodyPr/>
                    <a:lstStyle/>
                    <a:p>
                      <a:r>
                        <a:rPr sz="1300" b="1">
                          <a:solidFill>
                            <a:srgbClr val="FFFFFF"/>
                          </a:solidFill>
                          <a:latin typeface="Arial"/>
                        </a:rPr>
                        <a:t>Nhóm feature</a:t>
                      </a:r>
                    </a:p>
                  </a:txBody>
                  <a:tcPr anchor="ctr" marL="73152" marR="73152" marT="18288" marB="18288">
                    <a:solidFill>
                      <a:srgbClr val="10243B"/>
                    </a:solidFill>
                  </a:tcPr>
                </a:tc>
                <a:tc>
                  <a:txBody>
                    <a:bodyPr/>
                    <a:lstStyle/>
                    <a:p>
                      <a:pPr algn="ctr"/>
                      <a:r>
                        <a:rPr sz="1300" b="1">
                          <a:solidFill>
                            <a:srgbClr val="FFFFFF"/>
                          </a:solidFill>
                          <a:latin typeface="Arial"/>
                        </a:rPr>
                        <a:t>Thành phần</a:t>
                      </a:r>
                    </a:p>
                  </a:txBody>
                  <a:tcPr anchor="ctr" marL="73152" marR="73152" marT="18288" marB="18288">
                    <a:solidFill>
                      <a:srgbClr val="10243B"/>
                    </a:solidFill>
                  </a:tcPr>
                </a:tc>
              </a:tr>
              <a:tr h="445770">
                <a:tc>
                  <a:txBody>
                    <a:bodyPr/>
                    <a:lstStyle/>
                    <a:p>
                      <a:r>
                        <a:rPr sz="1300" b="0">
                          <a:solidFill>
                            <a:srgbClr val="1F2A37"/>
                          </a:solidFill>
                          <a:latin typeface="Arial"/>
                        </a:rPr>
                        <a:t>Return</a:t>
                      </a:r>
                    </a:p>
                  </a:txBody>
                  <a:tcPr anchor="ctr" marL="73152" marR="73152" marT="18288" marB="18288">
                    <a:solidFill>
                      <a:srgbClr val="ECF1F4"/>
                    </a:solidFill>
                  </a:tcPr>
                </a:tc>
                <a:tc>
                  <a:txBody>
                    <a:bodyPr/>
                    <a:lstStyle/>
                    <a:p>
                      <a:pPr algn="ctr"/>
                      <a:r>
                        <a:rPr sz="1300" b="0">
                          <a:solidFill>
                            <a:srgbClr val="1F2A37"/>
                          </a:solidFill>
                          <a:latin typeface="Arial"/>
                        </a:rPr>
                        <a:t>return_1d, 3d, 5d, 10d, 20d, close_open_return</a:t>
                      </a:r>
                    </a:p>
                  </a:txBody>
                  <a:tcPr anchor="ctr" marL="73152" marR="73152" marT="18288" marB="18288">
                    <a:solidFill>
                      <a:srgbClr val="ECF1F4"/>
                    </a:solidFill>
                  </a:tcPr>
                </a:tc>
              </a:tr>
              <a:tr h="445770">
                <a:tc>
                  <a:txBody>
                    <a:bodyPr/>
                    <a:lstStyle/>
                    <a:p>
                      <a:r>
                        <a:rPr sz="1300" b="0">
                          <a:solidFill>
                            <a:srgbClr val="1F2A37"/>
                          </a:solidFill>
                          <a:latin typeface="Arial"/>
                        </a:rPr>
                        <a:t>Trung bình động</a:t>
                      </a:r>
                    </a:p>
                  </a:txBody>
                  <a:tcPr anchor="ctr" marL="73152" marR="73152" marT="18288" marB="18288">
                    <a:solidFill>
                      <a:srgbClr val="FFFFFF"/>
                    </a:solidFill>
                  </a:tcPr>
                </a:tc>
                <a:tc>
                  <a:txBody>
                    <a:bodyPr/>
                    <a:lstStyle/>
                    <a:p>
                      <a:pPr algn="ctr"/>
                      <a:r>
                        <a:rPr sz="1300" b="0">
                          <a:solidFill>
                            <a:srgbClr val="1F2A37"/>
                          </a:solidFill>
                          <a:latin typeface="Arial"/>
                        </a:rPr>
                        <a:t>sma5, sma20, sma50, close_vs_sma20, sma20_vs_sma50</a:t>
                      </a:r>
                    </a:p>
                  </a:txBody>
                  <a:tcPr anchor="ctr" marL="73152" marR="73152" marT="18288" marB="18288">
                    <a:solidFill>
                      <a:srgbClr val="FFFFFF"/>
                    </a:solidFill>
                  </a:tcPr>
                </a:tc>
              </a:tr>
              <a:tr h="445770">
                <a:tc>
                  <a:txBody>
                    <a:bodyPr/>
                    <a:lstStyle/>
                    <a:p>
                      <a:r>
                        <a:rPr sz="1300" b="0">
                          <a:solidFill>
                            <a:srgbClr val="1F2A37"/>
                          </a:solidFill>
                          <a:latin typeface="Arial"/>
                        </a:rPr>
                        <a:t>Động lượng</a:t>
                      </a:r>
                    </a:p>
                  </a:txBody>
                  <a:tcPr anchor="ctr" marL="73152" marR="73152" marT="18288" marB="18288">
                    <a:solidFill>
                      <a:srgbClr val="ECF1F4"/>
                    </a:solidFill>
                  </a:tcPr>
                </a:tc>
                <a:tc>
                  <a:txBody>
                    <a:bodyPr/>
                    <a:lstStyle/>
                    <a:p>
                      <a:pPr algn="ctr"/>
                      <a:r>
                        <a:rPr sz="1300" b="0">
                          <a:solidFill>
                            <a:srgbClr val="1F2A37"/>
                          </a:solidFill>
                          <a:latin typeface="Arial"/>
                        </a:rPr>
                        <a:t>rsi14</a:t>
                      </a:r>
                    </a:p>
                  </a:txBody>
                  <a:tcPr anchor="ctr" marL="73152" marR="73152" marT="18288" marB="18288">
                    <a:solidFill>
                      <a:srgbClr val="ECF1F4"/>
                    </a:solidFill>
                  </a:tcPr>
                </a:tc>
              </a:tr>
              <a:tr h="445770">
                <a:tc>
                  <a:txBody>
                    <a:bodyPr/>
                    <a:lstStyle/>
                    <a:p>
                      <a:r>
                        <a:rPr sz="1300" b="0">
                          <a:solidFill>
                            <a:srgbClr val="1F2A37"/>
                          </a:solidFill>
                          <a:latin typeface="Arial"/>
                        </a:rPr>
                        <a:t>Biến động</a:t>
                      </a:r>
                    </a:p>
                  </a:txBody>
                  <a:tcPr anchor="ctr" marL="73152" marR="73152" marT="18288" marB="18288">
                    <a:solidFill>
                      <a:srgbClr val="FFFFFF"/>
                    </a:solidFill>
                  </a:tcPr>
                </a:tc>
                <a:tc>
                  <a:txBody>
                    <a:bodyPr/>
                    <a:lstStyle/>
                    <a:p>
                      <a:pPr algn="ctr"/>
                      <a:r>
                        <a:rPr sz="1300" b="0">
                          <a:solidFill>
                            <a:srgbClr val="1F2A37"/>
                          </a:solidFill>
                          <a:latin typeface="Arial"/>
                        </a:rPr>
                        <a:t>volatility_5d, volatility_20d, price_range</a:t>
                      </a:r>
                    </a:p>
                  </a:txBody>
                  <a:tcPr anchor="ctr" marL="73152" marR="73152" marT="18288" marB="18288">
                    <a:solidFill>
                      <a:srgbClr val="FFFFFF"/>
                    </a:solidFill>
                  </a:tcPr>
                </a:tc>
              </a:tr>
              <a:tr h="445770">
                <a:tc>
                  <a:txBody>
                    <a:bodyPr/>
                    <a:lstStyle/>
                    <a:p>
                      <a:r>
                        <a:rPr sz="1300" b="0">
                          <a:solidFill>
                            <a:srgbClr val="1F2A37"/>
                          </a:solidFill>
                          <a:latin typeface="Arial"/>
                        </a:rPr>
                        <a:t>Khối lượng</a:t>
                      </a:r>
                    </a:p>
                  </a:txBody>
                  <a:tcPr anchor="ctr" marL="73152" marR="73152" marT="18288" marB="18288">
                    <a:solidFill>
                      <a:srgbClr val="ECF1F4"/>
                    </a:solidFill>
                  </a:tcPr>
                </a:tc>
                <a:tc>
                  <a:txBody>
                    <a:bodyPr/>
                    <a:lstStyle/>
                    <a:p>
                      <a:pPr algn="ctr"/>
                      <a:r>
                        <a:rPr sz="1300" b="0">
                          <a:solidFill>
                            <a:srgbClr val="1F2A37"/>
                          </a:solidFill>
                          <a:latin typeface="Arial"/>
                        </a:rPr>
                        <a:t>volume_change_1d, volume_ratio_20</a:t>
                      </a:r>
                    </a:p>
                  </a:txBody>
                  <a:tcPr anchor="ctr" marL="73152" marR="73152" marT="18288" marB="18288">
                    <a:solidFill>
                      <a:srgbClr val="ECF1F4"/>
                    </a:solidFill>
                  </a:tcPr>
                </a:tc>
              </a:tr>
              <a:tr h="445770">
                <a:tc>
                  <a:txBody>
                    <a:bodyPr/>
                    <a:lstStyle/>
                    <a:p>
                      <a:r>
                        <a:rPr sz="1300" b="0">
                          <a:solidFill>
                            <a:srgbClr val="1F2A37"/>
                          </a:solidFill>
                          <a:latin typeface="Arial"/>
                        </a:rPr>
                        <a:t>Vị thế giá</a:t>
                      </a:r>
                    </a:p>
                  </a:txBody>
                  <a:tcPr anchor="ctr" marL="73152" marR="73152" marT="18288" marB="18288">
                    <a:solidFill>
                      <a:srgbClr val="FFFFFF"/>
                    </a:solidFill>
                  </a:tcPr>
                </a:tc>
                <a:tc>
                  <a:txBody>
                    <a:bodyPr/>
                    <a:lstStyle/>
                    <a:p>
                      <a:pPr algn="ctr"/>
                      <a:r>
                        <a:rPr sz="1300" b="0">
                          <a:solidFill>
                            <a:srgbClr val="1F2A37"/>
                          </a:solidFill>
                          <a:latin typeface="Arial"/>
                        </a:rPr>
                        <a:t>dist_high20, dist_low20</a:t>
                      </a:r>
                    </a:p>
                  </a:txBody>
                  <a:tcPr anchor="ctr" marL="73152" marR="73152" marT="18288" marB="18288">
                    <a:solidFill>
                      <a:srgbClr val="FFFFFF"/>
                    </a:solidFill>
                  </a:tcPr>
                </a:tc>
              </a:tr>
              <a:tr h="445770">
                <a:tc>
                  <a:txBody>
                    <a:bodyPr/>
                    <a:lstStyle/>
                    <a:p>
                      <a:r>
                        <a:rPr sz="1300" b="0">
                          <a:solidFill>
                            <a:srgbClr val="1F2A37"/>
                          </a:solidFill>
                          <a:latin typeface="Arial"/>
                        </a:rPr>
                        <a:t>Thời gian</a:t>
                      </a:r>
                    </a:p>
                  </a:txBody>
                  <a:tcPr anchor="ctr" marL="73152" marR="73152" marT="18288" marB="18288">
                    <a:solidFill>
                      <a:srgbClr val="ECF1F4"/>
                    </a:solidFill>
                  </a:tcPr>
                </a:tc>
                <a:tc>
                  <a:txBody>
                    <a:bodyPr/>
                    <a:lstStyle/>
                    <a:p>
                      <a:pPr algn="ctr"/>
                      <a:r>
                        <a:rPr sz="1300" b="0">
                          <a:solidFill>
                            <a:srgbClr val="1F2A37"/>
                          </a:solidFill>
                          <a:latin typeface="Arial"/>
                        </a:rPr>
                        <a:t>month</a:t>
                      </a:r>
                    </a:p>
                  </a:txBody>
                  <a:tcPr anchor="ctr" marL="73152" marR="73152" marT="18288" marB="18288">
                    <a:solidFill>
                      <a:srgbClr val="ECF1F4"/>
                    </a:solidFill>
                  </a:tcPr>
                </a:tc>
              </a:tr>
            </a:tbl>
          </a:graphicData>
        </a:graphic>
      </p:graphicFrame>
      <p:sp>
        <p:nvSpPr>
          <p:cNvPr id="5" name="TextBox 4"/>
          <p:cNvSpPr txBox="1"/>
          <p:nvPr/>
        </p:nvSpPr>
        <p:spPr>
          <a:xfrm>
            <a:off x="640080" y="5394960"/>
            <a:ext cx="10881360" cy="914400"/>
          </a:xfrm>
          <a:prstGeom prst="rect">
            <a:avLst/>
          </a:prstGeom>
          <a:noFill/>
        </p:spPr>
        <p:txBody>
          <a:bodyPr wrap="square">
            <a:spAutoFit/>
          </a:bodyPr>
          <a:lstStyle/>
          <a:p>
            <a:pPr>
              <a:spcAft>
                <a:spcPts val="600"/>
              </a:spcAft>
            </a:pPr>
            <a:r>
              <a:rPr sz="1500">
                <a:solidFill>
                  <a:srgbClr val="1F2A37"/>
                </a:solidFill>
                <a:latin typeface="Arial"/>
              </a:rPr>
              <a:t>– Rolling tính riêng theo từng mã, không trộn mã</a:t>
            </a:r>
          </a:p>
          <a:p>
            <a:pPr>
              <a:spcAft>
                <a:spcPts val="600"/>
              </a:spcAft>
            </a:pPr>
            <a:r>
              <a:rPr sz="1500">
                <a:solidFill>
                  <a:srgbClr val="1F2A37"/>
                </a:solidFill>
                <a:latin typeface="Arial"/>
              </a:rPr>
              <a:t>– Bốn cột tương lai bị chặn khỏi feature</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config/settings.py (FEATURE_COLUMNS), services/feature_engineering.py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Kiến trúc: pipeline offline tách khỏi tầng phục vụ dự báo</a:t>
            </a:r>
          </a:p>
          <a:p>
            <a:r>
              <a:rPr sz="1400">
                <a:solidFill>
                  <a:srgbClr val="5B6672"/>
                </a:solidFill>
                <a:latin typeface="Arial"/>
              </a:rPr>
              <a:t>Chương 3.2.1 - Kiến trúc ứng dụng</a:t>
            </a:r>
          </a:p>
        </p:txBody>
      </p:sp>
      <p:pic>
        <p:nvPicPr>
          <p:cNvPr id="4" name="Picture 3" descr="architecture_overview.png"/>
          <p:cNvPicPr>
            <a:picLocks noChangeAspect="1"/>
          </p:cNvPicPr>
          <p:nvPr/>
        </p:nvPicPr>
        <p:blipFill>
          <a:blip r:embed="rId2"/>
          <a:stretch>
            <a:fillRect/>
          </a:stretch>
        </p:blipFill>
        <p:spPr>
          <a:xfrm>
            <a:off x="1138233" y="1463040"/>
            <a:ext cx="5953134" cy="4480560"/>
          </a:xfrm>
          <a:prstGeom prst="rect">
            <a:avLst/>
          </a:prstGeom>
        </p:spPr>
      </p:pic>
      <p:sp>
        <p:nvSpPr>
          <p:cNvPr id="5" name="TextBox 4"/>
          <p:cNvSpPr txBox="1"/>
          <p:nvPr/>
        </p:nvSpPr>
        <p:spPr>
          <a:xfrm>
            <a:off x="7863840" y="1645920"/>
            <a:ext cx="3749039" cy="4114800"/>
          </a:xfrm>
          <a:prstGeom prst="rect">
            <a:avLst/>
          </a:prstGeom>
          <a:noFill/>
        </p:spPr>
        <p:txBody>
          <a:bodyPr wrap="square">
            <a:spAutoFit/>
          </a:bodyPr>
          <a:lstStyle/>
          <a:p>
            <a:pPr>
              <a:spcAft>
                <a:spcPts val="1200"/>
              </a:spcAft>
            </a:pPr>
            <a:r>
              <a:rPr sz="1500">
                <a:solidFill>
                  <a:srgbClr val="1F2A37"/>
                </a:solidFill>
                <a:latin typeface="Arial"/>
              </a:rPr>
              <a:t>– config: đường dẫn, feature, mốc thời gian</a:t>
            </a:r>
          </a:p>
          <a:p>
            <a:pPr>
              <a:spcAft>
                <a:spcPts val="1200"/>
              </a:spcAft>
            </a:pPr>
            <a:r>
              <a:rPr sz="1500">
                <a:solidFill>
                  <a:srgbClr val="1F2A37"/>
                </a:solidFill>
                <a:latin typeface="Arial"/>
              </a:rPr>
              <a:t>– services: xử lý, tuning, đánh giá, dự báo</a:t>
            </a:r>
          </a:p>
          <a:p>
            <a:pPr>
              <a:spcAft>
                <a:spcPts val="1200"/>
              </a:spcAft>
            </a:pPr>
            <a:r>
              <a:rPr sz="1500">
                <a:solidFill>
                  <a:srgbClr val="1F2A37"/>
                </a:solidFill>
                <a:latin typeface="Arial"/>
              </a:rPr>
              <a:t>– scripts: chạy từng bước và pipeline chính</a:t>
            </a:r>
          </a:p>
          <a:p>
            <a:pPr>
              <a:spcAft>
                <a:spcPts val="1200"/>
              </a:spcAft>
            </a:pPr>
            <a:r>
              <a:rPr sz="1500">
                <a:solidFill>
                  <a:srgbClr val="1F2A37"/>
                </a:solidFill>
                <a:latin typeface="Arial"/>
              </a:rPr>
              <a:t>– models và reports: hiện vật công bố</a:t>
            </a:r>
          </a:p>
          <a:p>
            <a:pPr>
              <a:spcAft>
                <a:spcPts val="1200"/>
              </a:spcAft>
            </a:pPr>
            <a:r>
              <a:rPr sz="1500">
                <a:solidFill>
                  <a:srgbClr val="1F2A37"/>
                </a:solidFill>
                <a:latin typeface="Arial"/>
              </a:rPr>
              <a:t>– app.py: web dự báo, đánh giá, Tuning Lab</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docs/report_assets/architecture_overview.png, app.py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Chatbot Action-Decision: LLM chọn action, backend giữ số liệu</a:t>
            </a:r>
          </a:p>
          <a:p>
            <a:r>
              <a:rPr sz="1400">
                <a:solidFill>
                  <a:srgbClr val="5B6672"/>
                </a:solidFill>
                <a:latin typeface="Arial"/>
              </a:rPr>
              <a:t>Chương 3 - Chức năng chatbot</a:t>
            </a:r>
          </a:p>
        </p:txBody>
      </p:sp>
      <p:sp>
        <p:nvSpPr>
          <p:cNvPr id="4" name="TextBox 3"/>
          <p:cNvSpPr txBox="1"/>
          <p:nvPr/>
        </p:nvSpPr>
        <p:spPr>
          <a:xfrm>
            <a:off x="640080" y="1600200"/>
            <a:ext cx="5029200" cy="4114800"/>
          </a:xfrm>
          <a:prstGeom prst="rect">
            <a:avLst/>
          </a:prstGeom>
          <a:noFill/>
        </p:spPr>
        <p:txBody>
          <a:bodyPr wrap="square">
            <a:spAutoFit/>
          </a:bodyPr>
          <a:lstStyle/>
          <a:p>
            <a:pPr>
              <a:spcAft>
                <a:spcPts val="1100"/>
              </a:spcAft>
            </a:pPr>
            <a:r>
              <a:rPr sz="1600">
                <a:solidFill>
                  <a:srgbClr val="1F2A37"/>
                </a:solidFill>
                <a:latin typeface="Arial"/>
              </a:rPr>
              <a:t>– LLM decision chọn đúng một trong năm action</a:t>
            </a:r>
          </a:p>
          <a:p>
            <a:pPr>
              <a:spcAft>
                <a:spcPts val="1100"/>
              </a:spcAft>
            </a:pPr>
            <a:r>
              <a:rPr sz="1600">
                <a:solidFill>
                  <a:srgbClr val="1F2A37"/>
                </a:solidFill>
                <a:latin typeface="Arial"/>
              </a:rPr>
              <a:t>– Backend validate schema và kiểm symbol scope</a:t>
            </a:r>
          </a:p>
          <a:p>
            <a:pPr>
              <a:spcAft>
                <a:spcPts val="1100"/>
              </a:spcAft>
            </a:pPr>
            <a:r>
              <a:rPr sz="1600">
                <a:solidFill>
                  <a:srgbClr val="1F2A37"/>
                </a:solidFill>
                <a:latin typeface="Arial"/>
              </a:rPr>
              <a:t>– Dispatcher cố định gọi handler, không tool loop</a:t>
            </a:r>
          </a:p>
          <a:p>
            <a:pPr>
              <a:spcAft>
                <a:spcPts val="1100"/>
              </a:spcAft>
            </a:pPr>
            <a:r>
              <a:rPr sz="1600">
                <a:solidFill>
                  <a:srgbClr val="1F2A37"/>
                </a:solidFill>
                <a:latin typeface="Arial"/>
              </a:rPr>
              <a:t>– Mọi số liệu do backend tính, LLM không tạo</a:t>
            </a:r>
          </a:p>
          <a:p>
            <a:pPr>
              <a:spcAft>
                <a:spcPts val="1100"/>
              </a:spcAft>
            </a:pPr>
            <a:r>
              <a:rPr sz="1600">
                <a:solidFill>
                  <a:srgbClr val="1F2A37"/>
                </a:solidFill>
                <a:latin typeface="Arial"/>
              </a:rPr>
              <a:t>– Compose diễn đạt lại, lỗi thì giữ formatter</a:t>
            </a:r>
          </a:p>
          <a:p>
            <a:pPr>
              <a:spcAft>
                <a:spcPts val="1100"/>
              </a:spcAft>
            </a:pPr>
            <a:r>
              <a:rPr sz="1600">
                <a:solidFill>
                  <a:srgbClr val="1F2A37"/>
                </a:solidFill>
                <a:latin typeface="Arial"/>
              </a:rPr>
              <a:t>– Không RAG, không vector DB, không embedding</a:t>
            </a:r>
          </a:p>
        </p:txBody>
      </p:sp>
      <p:graphicFrame>
        <p:nvGraphicFramePr>
          <p:cNvPr id="5" name="Table 4"/>
          <p:cNvGraphicFramePr>
            <a:graphicFrameLocks noGrp="1"/>
          </p:cNvGraphicFramePr>
          <p:nvPr/>
        </p:nvGraphicFramePr>
        <p:xfrm>
          <a:off x="5943600" y="1691640"/>
          <a:ext cx="5669280" cy="2011680"/>
        </p:xfrm>
        <a:graphic>
          <a:graphicData uri="http://schemas.openxmlformats.org/drawingml/2006/table">
            <a:tbl>
              <a:tblPr firstRow="1" bandRow="1">
                <a:tableStyleId>{5C22544A-7EE6-4342-B048-85BDC9FD1C3A}</a:tableStyleId>
              </a:tblPr>
              <a:tblGrid>
                <a:gridCol w="3779520"/>
                <a:gridCol w="1889760"/>
              </a:tblGrid>
              <a:tr h="402336">
                <a:tc>
                  <a:txBody>
                    <a:bodyPr/>
                    <a:lstStyle/>
                    <a:p>
                      <a:r>
                        <a:rPr sz="1300" b="1">
                          <a:solidFill>
                            <a:srgbClr val="FFFFFF"/>
                          </a:solidFill>
                          <a:latin typeface="Arial"/>
                        </a:rPr>
                        <a:t>Ràng buộc runtime</a:t>
                      </a:r>
                    </a:p>
                  </a:txBody>
                  <a:tcPr anchor="ctr" marL="73152" marR="73152" marT="18288" marB="18288">
                    <a:solidFill>
                      <a:srgbClr val="10243B"/>
                    </a:solidFill>
                  </a:tcPr>
                </a:tc>
                <a:tc>
                  <a:txBody>
                    <a:bodyPr/>
                    <a:lstStyle/>
                    <a:p>
                      <a:pPr algn="ctr"/>
                      <a:r>
                        <a:rPr sz="1300" b="1">
                          <a:solidFill>
                            <a:srgbClr val="FFFFFF"/>
                          </a:solidFill>
                          <a:latin typeface="Arial"/>
                        </a:rPr>
                        <a:t>Giá trị</a:t>
                      </a:r>
                    </a:p>
                  </a:txBody>
                  <a:tcPr anchor="ctr" marL="73152" marR="73152" marT="18288" marB="18288">
                    <a:solidFill>
                      <a:srgbClr val="10243B"/>
                    </a:solidFill>
                  </a:tcPr>
                </a:tc>
              </a:tr>
              <a:tr h="402336">
                <a:tc>
                  <a:txBody>
                    <a:bodyPr/>
                    <a:lstStyle/>
                    <a:p>
                      <a:r>
                        <a:rPr sz="1300" b="0">
                          <a:solidFill>
                            <a:srgbClr val="1F2A37"/>
                          </a:solidFill>
                          <a:latin typeface="Arial"/>
                        </a:rPr>
                        <a:t>LLM call: decision + compose</a:t>
                      </a:r>
                    </a:p>
                  </a:txBody>
                  <a:tcPr anchor="ctr" marL="73152" marR="73152" marT="18288" marB="18288">
                    <a:solidFill>
                      <a:srgbClr val="ECF1F4"/>
                    </a:solidFill>
                  </a:tcPr>
                </a:tc>
                <a:tc>
                  <a:txBody>
                    <a:bodyPr/>
                    <a:lstStyle/>
                    <a:p>
                      <a:pPr algn="ctr"/>
                      <a:r>
                        <a:rPr sz="1300" b="0">
                          <a:solidFill>
                            <a:srgbClr val="1F2A37"/>
                          </a:solidFill>
                          <a:latin typeface="Arial"/>
                        </a:rPr>
                        <a:t>2</a:t>
                      </a:r>
                    </a:p>
                  </a:txBody>
                  <a:tcPr anchor="ctr" marL="73152" marR="73152" marT="18288" marB="18288">
                    <a:solidFill>
                      <a:srgbClr val="ECF1F4"/>
                    </a:solidFill>
                  </a:tcPr>
                </a:tc>
              </a:tr>
              <a:tr h="402336">
                <a:tc>
                  <a:txBody>
                    <a:bodyPr/>
                    <a:lstStyle/>
                    <a:p>
                      <a:r>
                        <a:rPr sz="1300" b="0">
                          <a:solidFill>
                            <a:srgbClr val="1F2A37"/>
                          </a:solidFill>
                          <a:latin typeface="Arial"/>
                        </a:rPr>
                        <a:t>Action trong whitelist</a:t>
                      </a:r>
                    </a:p>
                  </a:txBody>
                  <a:tcPr anchor="ctr" marL="73152" marR="73152" marT="18288" marB="18288">
                    <a:solidFill>
                      <a:srgbClr val="FFFFFF"/>
                    </a:solidFill>
                  </a:tcPr>
                </a:tc>
                <a:tc>
                  <a:txBody>
                    <a:bodyPr/>
                    <a:lstStyle/>
                    <a:p>
                      <a:pPr algn="ctr"/>
                      <a:r>
                        <a:rPr sz="1300" b="0">
                          <a:solidFill>
                            <a:srgbClr val="1F2A37"/>
                          </a:solidFill>
                          <a:latin typeface="Arial"/>
                        </a:rPr>
                        <a:t>5</a:t>
                      </a:r>
                    </a:p>
                  </a:txBody>
                  <a:tcPr anchor="ctr" marL="73152" marR="73152" marT="18288" marB="18288">
                    <a:solidFill>
                      <a:srgbClr val="FFFFFF"/>
                    </a:solidFill>
                  </a:tcPr>
                </a:tc>
              </a:tr>
              <a:tr h="402336">
                <a:tc>
                  <a:txBody>
                    <a:bodyPr/>
                    <a:lstStyle/>
                    <a:p>
                      <a:r>
                        <a:rPr sz="1300" b="0">
                          <a:solidFill>
                            <a:srgbClr val="1F2A37"/>
                          </a:solidFill>
                          <a:latin typeface="Arial"/>
                        </a:rPr>
                        <a:t>History gửi kèm</a:t>
                      </a:r>
                    </a:p>
                  </a:txBody>
                  <a:tcPr anchor="ctr" marL="73152" marR="73152" marT="18288" marB="18288">
                    <a:solidFill>
                      <a:srgbClr val="ECF1F4"/>
                    </a:solidFill>
                  </a:tcPr>
                </a:tc>
                <a:tc>
                  <a:txBody>
                    <a:bodyPr/>
                    <a:lstStyle/>
                    <a:p>
                      <a:pPr algn="ctr"/>
                      <a:r>
                        <a:rPr sz="1300" b="0">
                          <a:solidFill>
                            <a:srgbClr val="1F2A37"/>
                          </a:solidFill>
                          <a:latin typeface="Arial"/>
                        </a:rPr>
                        <a:t>3 cặp</a:t>
                      </a:r>
                    </a:p>
                  </a:txBody>
                  <a:tcPr anchor="ctr" marL="73152" marR="73152" marT="18288" marB="18288">
                    <a:solidFill>
                      <a:srgbClr val="ECF1F4"/>
                    </a:solidFill>
                  </a:tcPr>
                </a:tc>
              </a:tr>
              <a:tr h="402336">
                <a:tc>
                  <a:txBody>
                    <a:bodyPr/>
                    <a:lstStyle/>
                    <a:p>
                      <a:r>
                        <a:rPr sz="1300" b="0">
                          <a:solidFill>
                            <a:srgbClr val="1F2A37"/>
                          </a:solidFill>
                          <a:latin typeface="Arial"/>
                        </a:rPr>
                        <a:t>Fallback khi compose lỗi</a:t>
                      </a:r>
                    </a:p>
                  </a:txBody>
                  <a:tcPr anchor="ctr" marL="73152" marR="73152" marT="18288" marB="18288">
                    <a:solidFill>
                      <a:srgbClr val="FFFFFF"/>
                    </a:solidFill>
                  </a:tcPr>
                </a:tc>
                <a:tc>
                  <a:txBody>
                    <a:bodyPr/>
                    <a:lstStyle/>
                    <a:p>
                      <a:pPr algn="ctr"/>
                      <a:r>
                        <a:rPr sz="1300" b="0">
                          <a:solidFill>
                            <a:srgbClr val="1F2A37"/>
                          </a:solidFill>
                          <a:latin typeface="Arial"/>
                        </a:rPr>
                        <a:t>Formatter</a:t>
                      </a:r>
                    </a:p>
                  </a:txBody>
                  <a:tcPr anchor="ctr" marL="73152" marR="73152" marT="18288" marB="18288">
                    <a:solidFill>
                      <a:srgbClr val="FFFFFF"/>
                    </a:solidFill>
                  </a:tcPr>
                </a:tc>
              </a:tr>
            </a:tbl>
          </a:graphicData>
        </a:graphic>
      </p:graphicFrame>
      <p:pic>
        <p:nvPicPr>
          <p:cNvPr id="6" name="Picture 5" descr="chatbot_flow.png"/>
          <p:cNvPicPr>
            <a:picLocks noChangeAspect="1"/>
          </p:cNvPicPr>
          <p:nvPr/>
        </p:nvPicPr>
        <p:blipFill>
          <a:blip r:embed="rId2"/>
          <a:stretch>
            <a:fillRect/>
          </a:stretch>
        </p:blipFill>
        <p:spPr>
          <a:xfrm>
            <a:off x="6603274" y="3794760"/>
            <a:ext cx="4349931" cy="1920240"/>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docs/CHATBOT_ARCHITECTURE.md, services/chatbot_service.py, services/chatbot_tools.py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Demo: chatbot trả lời có số liệu, từ chối câu ngoài phạm vi</a:t>
            </a:r>
          </a:p>
          <a:p>
            <a:r>
              <a:rPr sz="1400">
                <a:solidFill>
                  <a:srgbClr val="5B6672"/>
                </a:solidFill>
                <a:latin typeface="Arial"/>
              </a:rPr>
              <a:t>Chương 3 - Ảnh chụp phiên làm việc thật</a:t>
            </a:r>
          </a:p>
        </p:txBody>
      </p:sp>
      <p:pic>
        <p:nvPicPr>
          <p:cNvPr id="4" name="Picture 3" descr="chatbot_demo.png"/>
          <p:cNvPicPr>
            <a:picLocks noChangeAspect="1"/>
          </p:cNvPicPr>
          <p:nvPr/>
        </p:nvPicPr>
        <p:blipFill>
          <a:blip r:embed="rId2"/>
          <a:stretch>
            <a:fillRect/>
          </a:stretch>
        </p:blipFill>
        <p:spPr>
          <a:xfrm>
            <a:off x="1408176" y="1554480"/>
            <a:ext cx="3584448" cy="4480560"/>
          </a:xfrm>
          <a:prstGeom prst="rect">
            <a:avLst/>
          </a:prstGeom>
        </p:spPr>
      </p:pic>
      <p:sp>
        <p:nvSpPr>
          <p:cNvPr id="5" name="TextBox 4"/>
          <p:cNvSpPr txBox="1"/>
          <p:nvPr/>
        </p:nvSpPr>
        <p:spPr>
          <a:xfrm>
            <a:off x="6035040" y="1600200"/>
            <a:ext cx="5577840" cy="4206240"/>
          </a:xfrm>
          <a:prstGeom prst="rect">
            <a:avLst/>
          </a:prstGeom>
          <a:noFill/>
        </p:spPr>
        <p:txBody>
          <a:bodyPr wrap="square">
            <a:spAutoFit/>
          </a:bodyPr>
          <a:lstStyle/>
          <a:p>
            <a:pPr>
              <a:spcAft>
                <a:spcPts val="1200"/>
              </a:spcAft>
            </a:pPr>
            <a:r>
              <a:rPr sz="1600">
                <a:solidFill>
                  <a:srgbClr val="1F2A37"/>
                </a:solidFill>
                <a:latin typeface="Arial"/>
              </a:rPr>
              <a:t>– Câu 1: PROJECT_INFO, model và kết quả TEST</a:t>
            </a:r>
          </a:p>
          <a:p>
            <a:pPr>
              <a:spcAft>
                <a:spcPts val="1200"/>
              </a:spcAft>
            </a:pPr>
            <a:r>
              <a:rPr sz="1600">
                <a:solidFill>
                  <a:srgbClr val="1F2A37"/>
                </a:solidFill>
                <a:latin typeface="Arial"/>
              </a:rPr>
              <a:t>– Câu 2: STOCK_SIGNAL FPT, Điểm UP và ngưỡng</a:t>
            </a:r>
          </a:p>
          <a:p>
            <a:pPr>
              <a:spcAft>
                <a:spcPts val="1200"/>
              </a:spcAft>
            </a:pPr>
            <a:r>
              <a:rPr sz="1600">
                <a:solidFill>
                  <a:srgbClr val="1F2A37"/>
                </a:solidFill>
                <a:latin typeface="Arial"/>
              </a:rPr>
              <a:t>– Câu 3: OUT_OF_SCOPE, hỏi P/E và tin tức</a:t>
            </a:r>
          </a:p>
          <a:p>
            <a:pPr>
              <a:spcAft>
                <a:spcPts val="1200"/>
              </a:spcAft>
            </a:pPr>
            <a:r>
              <a:rPr sz="1600">
                <a:solidFill>
                  <a:srgbClr val="1F2A37"/>
                </a:solidFill>
                <a:latin typeface="Arial"/>
              </a:rPr>
              <a:t>– Số liệu do backend tính, LLM chỉ diễn đạt</a:t>
            </a:r>
          </a:p>
          <a:p>
            <a:pPr>
              <a:spcAft>
                <a:spcPts val="1200"/>
              </a:spcAft>
            </a:pPr>
            <a:r>
              <a:rPr sz="1600">
                <a:solidFill>
                  <a:srgbClr val="1F2A37"/>
                </a:solidFill>
                <a:latin typeface="Arial"/>
              </a:rPr>
              <a:t>– Chatbot nói rõ đây là dữ liệu offline</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ảnh chụp 127.0.0.1:5000/chat, docs/slides/shoot_chat.py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Chia theo thời gian, purge nhãn vắt biên và khóa TEST bằng fingerprint</a:t>
            </a:r>
          </a:p>
          <a:p>
            <a:r>
              <a:rPr sz="1400">
                <a:solidFill>
                  <a:srgbClr val="5B6672"/>
                </a:solidFill>
                <a:latin typeface="Arial"/>
              </a:rPr>
              <a:t>Chương 3 - Giao thức thực nghiệm</a:t>
            </a:r>
          </a:p>
        </p:txBody>
      </p:sp>
      <p:graphicFrame>
        <p:nvGraphicFramePr>
          <p:cNvPr id="4" name="Table 3"/>
          <p:cNvGraphicFramePr>
            <a:graphicFrameLocks noGrp="1"/>
          </p:cNvGraphicFramePr>
          <p:nvPr/>
        </p:nvGraphicFramePr>
        <p:xfrm>
          <a:off x="640080" y="1600200"/>
          <a:ext cx="5760720" cy="1737360"/>
        </p:xfrm>
        <a:graphic>
          <a:graphicData uri="http://schemas.openxmlformats.org/drawingml/2006/table">
            <a:tbl>
              <a:tblPr firstRow="1" bandRow="1">
                <a:tableStyleId>{5C22544A-7EE6-4342-B048-85BDC9FD1C3A}</a:tableStyleId>
              </a:tblPr>
              <a:tblGrid>
                <a:gridCol w="1440180"/>
                <a:gridCol w="1440180"/>
                <a:gridCol w="1440180"/>
                <a:gridCol w="1440180"/>
              </a:tblGrid>
              <a:tr h="434340">
                <a:tc>
                  <a:txBody>
                    <a:bodyPr/>
                    <a:lstStyle/>
                    <a:p>
                      <a:r>
                        <a:rPr sz="1300" b="1">
                          <a:solidFill>
                            <a:srgbClr val="FFFFFF"/>
                          </a:solidFill>
                          <a:latin typeface="Arial"/>
                        </a:rPr>
                        <a:t>Tập</a:t>
                      </a:r>
                    </a:p>
                  </a:txBody>
                  <a:tcPr anchor="ctr" marL="73152" marR="73152" marT="18288" marB="18288">
                    <a:solidFill>
                      <a:srgbClr val="10243B"/>
                    </a:solidFill>
                  </a:tcPr>
                </a:tc>
                <a:tc>
                  <a:txBody>
                    <a:bodyPr/>
                    <a:lstStyle/>
                    <a:p>
                      <a:pPr algn="ctr"/>
                      <a:r>
                        <a:rPr sz="1300" b="1">
                          <a:solidFill>
                            <a:srgbClr val="FFFFFF"/>
                          </a:solidFill>
                          <a:latin typeface="Arial"/>
                        </a:rPr>
                        <a:t>Số dòng</a:t>
                      </a:r>
                    </a:p>
                  </a:txBody>
                  <a:tcPr anchor="ctr" marL="73152" marR="73152" marT="18288" marB="18288">
                    <a:solidFill>
                      <a:srgbClr val="10243B"/>
                    </a:solidFill>
                  </a:tcPr>
                </a:tc>
                <a:tc>
                  <a:txBody>
                    <a:bodyPr/>
                    <a:lstStyle/>
                    <a:p>
                      <a:pPr algn="ctr"/>
                      <a:r>
                        <a:rPr sz="1300" b="1">
                          <a:solidFill>
                            <a:srgbClr val="FFFFFF"/>
                          </a:solidFill>
                          <a:latin typeface="Arial"/>
                        </a:rPr>
                        <a:t>Từ ngày</a:t>
                      </a:r>
                    </a:p>
                  </a:txBody>
                  <a:tcPr anchor="ctr" marL="73152" marR="73152" marT="18288" marB="18288">
                    <a:solidFill>
                      <a:srgbClr val="10243B"/>
                    </a:solidFill>
                  </a:tcPr>
                </a:tc>
                <a:tc>
                  <a:txBody>
                    <a:bodyPr/>
                    <a:lstStyle/>
                    <a:p>
                      <a:pPr algn="ctr"/>
                      <a:r>
                        <a:rPr sz="1300" b="1">
                          <a:solidFill>
                            <a:srgbClr val="FFFFFF"/>
                          </a:solidFill>
                          <a:latin typeface="Arial"/>
                        </a:rPr>
                        <a:t>Đến ngày</a:t>
                      </a:r>
                    </a:p>
                  </a:txBody>
                  <a:tcPr anchor="ctr" marL="73152" marR="73152" marT="18288" marB="18288">
                    <a:solidFill>
                      <a:srgbClr val="10243B"/>
                    </a:solidFill>
                  </a:tcPr>
                </a:tc>
              </a:tr>
              <a:tr h="434340">
                <a:tc>
                  <a:txBody>
                    <a:bodyPr/>
                    <a:lstStyle/>
                    <a:p>
                      <a:r>
                        <a:rPr sz="1300" b="0">
                          <a:solidFill>
                            <a:srgbClr val="1F2A37"/>
                          </a:solidFill>
                          <a:latin typeface="Arial"/>
                        </a:rPr>
                        <a:t>TRAIN</a:t>
                      </a:r>
                    </a:p>
                  </a:txBody>
                  <a:tcPr anchor="ctr" marL="73152" marR="73152" marT="18288" marB="18288">
                    <a:solidFill>
                      <a:srgbClr val="ECF1F4"/>
                    </a:solidFill>
                  </a:tcPr>
                </a:tc>
                <a:tc>
                  <a:txBody>
                    <a:bodyPr/>
                    <a:lstStyle/>
                    <a:p>
                      <a:pPr algn="ctr"/>
                      <a:r>
                        <a:rPr sz="1300" b="0">
                          <a:solidFill>
                            <a:srgbClr val="1F2A37"/>
                          </a:solidFill>
                          <a:latin typeface="Arial"/>
                        </a:rPr>
                        <a:t>419.807</a:t>
                      </a:r>
                    </a:p>
                  </a:txBody>
                  <a:tcPr anchor="ctr" marL="73152" marR="73152" marT="18288" marB="18288">
                    <a:solidFill>
                      <a:srgbClr val="ECF1F4"/>
                    </a:solidFill>
                  </a:tcPr>
                </a:tc>
                <a:tc>
                  <a:txBody>
                    <a:bodyPr/>
                    <a:lstStyle/>
                    <a:p>
                      <a:pPr algn="ctr"/>
                      <a:r>
                        <a:rPr sz="1300" b="0">
                          <a:solidFill>
                            <a:srgbClr val="1F2A37"/>
                          </a:solidFill>
                          <a:latin typeface="Arial"/>
                        </a:rPr>
                        <a:t>2019-10-23</a:t>
                      </a:r>
                    </a:p>
                  </a:txBody>
                  <a:tcPr anchor="ctr" marL="73152" marR="73152" marT="18288" marB="18288">
                    <a:solidFill>
                      <a:srgbClr val="ECF1F4"/>
                    </a:solidFill>
                  </a:tcPr>
                </a:tc>
                <a:tc>
                  <a:txBody>
                    <a:bodyPr/>
                    <a:lstStyle/>
                    <a:p>
                      <a:pPr algn="ctr"/>
                      <a:r>
                        <a:rPr sz="1300" b="0">
                          <a:solidFill>
                            <a:srgbClr val="1F2A37"/>
                          </a:solidFill>
                          <a:latin typeface="Arial"/>
                        </a:rPr>
                        <a:t>2025-07-03</a:t>
                      </a:r>
                    </a:p>
                  </a:txBody>
                  <a:tcPr anchor="ctr" marL="73152" marR="73152" marT="18288" marB="18288">
                    <a:solidFill>
                      <a:srgbClr val="ECF1F4"/>
                    </a:solidFill>
                  </a:tcPr>
                </a:tc>
              </a:tr>
              <a:tr h="434340">
                <a:tc>
                  <a:txBody>
                    <a:bodyPr/>
                    <a:lstStyle/>
                    <a:p>
                      <a:r>
                        <a:rPr sz="1300" b="0">
                          <a:solidFill>
                            <a:srgbClr val="1F2A37"/>
                          </a:solidFill>
                          <a:latin typeface="Arial"/>
                        </a:rPr>
                        <a:t>VALIDATION</a:t>
                      </a:r>
                    </a:p>
                  </a:txBody>
                  <a:tcPr anchor="ctr" marL="73152" marR="73152" marT="18288" marB="18288">
                    <a:solidFill>
                      <a:srgbClr val="FFFFFF"/>
                    </a:solidFill>
                  </a:tcPr>
                </a:tc>
                <a:tc>
                  <a:txBody>
                    <a:bodyPr/>
                    <a:lstStyle/>
                    <a:p>
                      <a:pPr algn="ctr"/>
                      <a:r>
                        <a:rPr sz="1300" b="0">
                          <a:solidFill>
                            <a:srgbClr val="1F2A37"/>
                          </a:solidFill>
                          <a:latin typeface="Arial"/>
                        </a:rPr>
                        <a:t>67.047</a:t>
                      </a:r>
                    </a:p>
                  </a:txBody>
                  <a:tcPr anchor="ctr" marL="73152" marR="73152" marT="18288" marB="18288">
                    <a:solidFill>
                      <a:srgbClr val="FFFFFF"/>
                    </a:solidFill>
                  </a:tcPr>
                </a:tc>
                <a:tc>
                  <a:txBody>
                    <a:bodyPr/>
                    <a:lstStyle/>
                    <a:p>
                      <a:pPr algn="ctr"/>
                      <a:r>
                        <a:rPr sz="1300" b="0">
                          <a:solidFill>
                            <a:srgbClr val="1F2A37"/>
                          </a:solidFill>
                          <a:latin typeface="Arial"/>
                        </a:rPr>
                        <a:t>2025-07-11</a:t>
                      </a:r>
                    </a:p>
                  </a:txBody>
                  <a:tcPr anchor="ctr" marL="73152" marR="73152" marT="18288" marB="18288">
                    <a:solidFill>
                      <a:srgbClr val="FFFFFF"/>
                    </a:solidFill>
                  </a:tcPr>
                </a:tc>
                <a:tc>
                  <a:txBody>
                    <a:bodyPr/>
                    <a:lstStyle/>
                    <a:p>
                      <a:pPr algn="ctr"/>
                      <a:r>
                        <a:rPr sz="1300" b="0">
                          <a:solidFill>
                            <a:srgbClr val="1F2A37"/>
                          </a:solidFill>
                          <a:latin typeface="Arial"/>
                        </a:rPr>
                        <a:t>2026-04-03</a:t>
                      </a:r>
                    </a:p>
                  </a:txBody>
                  <a:tcPr anchor="ctr" marL="73152" marR="73152" marT="18288" marB="18288">
                    <a:solidFill>
                      <a:srgbClr val="FFFFFF"/>
                    </a:solidFill>
                  </a:tcPr>
                </a:tc>
              </a:tr>
              <a:tr h="434340">
                <a:tc>
                  <a:txBody>
                    <a:bodyPr/>
                    <a:lstStyle/>
                    <a:p>
                      <a:r>
                        <a:rPr sz="1300" b="0">
                          <a:solidFill>
                            <a:srgbClr val="1F2A37"/>
                          </a:solidFill>
                          <a:latin typeface="Arial"/>
                        </a:rPr>
                        <a:t>TEST</a:t>
                      </a:r>
                    </a:p>
                  </a:txBody>
                  <a:tcPr anchor="ctr" marL="73152" marR="73152" marT="18288" marB="18288">
                    <a:solidFill>
                      <a:srgbClr val="ECF1F4"/>
                    </a:solidFill>
                  </a:tcPr>
                </a:tc>
                <a:tc>
                  <a:txBody>
                    <a:bodyPr/>
                    <a:lstStyle/>
                    <a:p>
                      <a:pPr algn="ctr"/>
                      <a:r>
                        <a:rPr sz="1300" b="0">
                          <a:solidFill>
                            <a:srgbClr val="1F2A37"/>
                          </a:solidFill>
                          <a:latin typeface="Arial"/>
                        </a:rPr>
                        <a:t>20.350</a:t>
                      </a:r>
                    </a:p>
                  </a:txBody>
                  <a:tcPr anchor="ctr" marL="73152" marR="73152" marT="18288" marB="18288">
                    <a:solidFill>
                      <a:srgbClr val="ECF1F4"/>
                    </a:solidFill>
                  </a:tcPr>
                </a:tc>
                <a:tc>
                  <a:txBody>
                    <a:bodyPr/>
                    <a:lstStyle/>
                    <a:p>
                      <a:pPr algn="ctr"/>
                      <a:r>
                        <a:rPr sz="1300" b="0">
                          <a:solidFill>
                            <a:srgbClr val="1F2A37"/>
                          </a:solidFill>
                          <a:latin typeface="Arial"/>
                        </a:rPr>
                        <a:t>2026-04-13</a:t>
                      </a:r>
                    </a:p>
                  </a:txBody>
                  <a:tcPr anchor="ctr" marL="73152" marR="73152" marT="18288" marB="18288">
                    <a:solidFill>
                      <a:srgbClr val="ECF1F4"/>
                    </a:solidFill>
                  </a:tcPr>
                </a:tc>
                <a:tc>
                  <a:txBody>
                    <a:bodyPr/>
                    <a:lstStyle/>
                    <a:p>
                      <a:pPr algn="ctr"/>
                      <a:r>
                        <a:rPr sz="1300" b="0">
                          <a:solidFill>
                            <a:srgbClr val="1F2A37"/>
                          </a:solidFill>
                          <a:latin typeface="Arial"/>
                        </a:rPr>
                        <a:t>2026-07-13</a:t>
                      </a:r>
                    </a:p>
                  </a:txBody>
                  <a:tcPr anchor="ctr" marL="73152" marR="73152" marT="18288" marB="18288">
                    <a:solidFill>
                      <a:srgbClr val="ECF1F4"/>
                    </a:solidFill>
                  </a:tcPr>
                </a:tc>
              </a:tr>
            </a:tbl>
          </a:graphicData>
        </a:graphic>
      </p:graphicFrame>
      <p:sp>
        <p:nvSpPr>
          <p:cNvPr id="5" name="TextBox 4"/>
          <p:cNvSpPr txBox="1"/>
          <p:nvPr/>
        </p:nvSpPr>
        <p:spPr>
          <a:xfrm>
            <a:off x="640080" y="3566160"/>
            <a:ext cx="5760720" cy="2377440"/>
          </a:xfrm>
          <a:prstGeom prst="rect">
            <a:avLst/>
          </a:prstGeom>
          <a:noFill/>
        </p:spPr>
        <p:txBody>
          <a:bodyPr wrap="square">
            <a:spAutoFit/>
          </a:bodyPr>
          <a:lstStyle/>
          <a:p>
            <a:pPr>
              <a:spcAft>
                <a:spcPts val="1100"/>
              </a:spcAft>
            </a:pPr>
            <a:r>
              <a:rPr sz="1500">
                <a:solidFill>
                  <a:srgbClr val="1F2A37"/>
                </a:solidFill>
                <a:latin typeface="Arial"/>
              </a:rPr>
              <a:t>– Purge 1.883 dòng ở biên TRAIN/VALIDATION</a:t>
            </a:r>
          </a:p>
          <a:p>
            <a:pPr>
              <a:spcAft>
                <a:spcPts val="1100"/>
              </a:spcAft>
            </a:pPr>
            <a:r>
              <a:rPr sz="1500">
                <a:solidFill>
                  <a:srgbClr val="1F2A37"/>
                </a:solidFill>
                <a:latin typeface="Arial"/>
              </a:rPr>
              <a:t>– Purge 1.775 dòng ở biên VALIDATION/TEST</a:t>
            </a:r>
          </a:p>
          <a:p>
            <a:pPr>
              <a:spcAft>
                <a:spcPts val="1100"/>
              </a:spcAft>
            </a:pPr>
            <a:r>
              <a:rPr sz="1500">
                <a:solidFill>
                  <a:srgbClr val="1F2A37"/>
                </a:solidFill>
                <a:latin typeface="Arial"/>
              </a:rPr>
              <a:t>– TEST chỉ được chấm một lần, sau khi đã chọn model</a:t>
            </a:r>
          </a:p>
          <a:p>
            <a:pPr>
              <a:spcAft>
                <a:spcPts val="1100"/>
              </a:spcAft>
            </a:pPr>
            <a:r>
              <a:rPr sz="1500">
                <a:solidFill>
                  <a:srgbClr val="1F2A37"/>
                </a:solidFill>
                <a:latin typeface="Arial"/>
              </a:rPr>
              <a:t>– Fingerprint nội dung chặn chấm lại TEST</a:t>
            </a:r>
          </a:p>
        </p:txBody>
      </p:sp>
      <p:pic>
        <p:nvPicPr>
          <p:cNvPr id="6" name="Picture 5" descr="split_rows.png"/>
          <p:cNvPicPr>
            <a:picLocks noChangeAspect="1"/>
          </p:cNvPicPr>
          <p:nvPr/>
        </p:nvPicPr>
        <p:blipFill>
          <a:blip r:embed="rId2"/>
          <a:stretch>
            <a:fillRect/>
          </a:stretch>
        </p:blipFill>
        <p:spPr>
          <a:xfrm>
            <a:off x="6583680" y="2551176"/>
            <a:ext cx="5029200" cy="2212848"/>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reports/split_summary.csv, reports/pipeline_summary.json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Tuning bằng CV 4 fold theo ngày, purge 5 phiên, ngưỡng chọn từ OOF</a:t>
            </a:r>
          </a:p>
          <a:p>
            <a:r>
              <a:rPr sz="1400">
                <a:solidFill>
                  <a:srgbClr val="5B6672"/>
                </a:solidFill>
                <a:latin typeface="Arial"/>
              </a:rPr>
              <a:t>Chương 3 - Thiết lập thực nghiệm</a:t>
            </a:r>
          </a:p>
        </p:txBody>
      </p:sp>
      <p:graphicFrame>
        <p:nvGraphicFramePr>
          <p:cNvPr id="4" name="Table 3"/>
          <p:cNvGraphicFramePr>
            <a:graphicFrameLocks noGrp="1"/>
          </p:cNvGraphicFramePr>
          <p:nvPr/>
        </p:nvGraphicFramePr>
        <p:xfrm>
          <a:off x="640080" y="1600200"/>
          <a:ext cx="5760720" cy="1737360"/>
        </p:xfrm>
        <a:graphic>
          <a:graphicData uri="http://schemas.openxmlformats.org/drawingml/2006/table">
            <a:tbl>
              <a:tblPr firstRow="1" bandRow="1">
                <a:tableStyleId>{5C22544A-7EE6-4342-B048-85BDC9FD1C3A}</a:tableStyleId>
              </a:tblPr>
              <a:tblGrid>
                <a:gridCol w="1920240"/>
                <a:gridCol w="1280160"/>
                <a:gridCol w="1280160"/>
                <a:gridCol w="1280160"/>
              </a:tblGrid>
              <a:tr h="434340">
                <a:tc>
                  <a:txBody>
                    <a:bodyPr/>
                    <a:lstStyle/>
                    <a:p>
                      <a:r>
                        <a:rPr sz="1300" b="1">
                          <a:solidFill>
                            <a:srgbClr val="FFFFFF"/>
                          </a:solidFill>
                          <a:latin typeface="Arial"/>
                        </a:rPr>
                        <a:t>Model</a:t>
                      </a:r>
                    </a:p>
                  </a:txBody>
                  <a:tcPr anchor="ctr" marL="73152" marR="73152" marT="18288" marB="18288">
                    <a:solidFill>
                      <a:srgbClr val="10243B"/>
                    </a:solidFill>
                  </a:tcPr>
                </a:tc>
                <a:tc>
                  <a:txBody>
                    <a:bodyPr/>
                    <a:lstStyle/>
                    <a:p>
                      <a:pPr algn="ctr"/>
                      <a:r>
                        <a:rPr sz="1300" b="1">
                          <a:solidFill>
                            <a:srgbClr val="FFFFFF"/>
                          </a:solidFill>
                          <a:latin typeface="Arial"/>
                        </a:rPr>
                        <a:t>CV F1_UP</a:t>
                      </a:r>
                    </a:p>
                  </a:txBody>
                  <a:tcPr anchor="ctr" marL="73152" marR="73152" marT="18288" marB="18288">
                    <a:solidFill>
                      <a:srgbClr val="10243B"/>
                    </a:solidFill>
                  </a:tcPr>
                </a:tc>
                <a:tc>
                  <a:txBody>
                    <a:bodyPr/>
                    <a:lstStyle/>
                    <a:p>
                      <a:pPr algn="ctr"/>
                      <a:r>
                        <a:rPr sz="1300" b="1">
                          <a:solidFill>
                            <a:srgbClr val="FFFFFF"/>
                          </a:solidFill>
                          <a:latin typeface="Arial"/>
                        </a:rPr>
                        <a:t>Độ lệch chuẩn</a:t>
                      </a:r>
                    </a:p>
                  </a:txBody>
                  <a:tcPr anchor="ctr" marL="73152" marR="73152" marT="18288" marB="18288">
                    <a:solidFill>
                      <a:srgbClr val="10243B"/>
                    </a:solidFill>
                  </a:tcPr>
                </a:tc>
                <a:tc>
                  <a:txBody>
                    <a:bodyPr/>
                    <a:lstStyle/>
                    <a:p>
                      <a:pPr algn="ctr"/>
                      <a:r>
                        <a:rPr sz="1300" b="1">
                          <a:solidFill>
                            <a:srgbClr val="FFFFFF"/>
                          </a:solidFill>
                          <a:latin typeface="Arial"/>
                        </a:rPr>
                        <a:t>Ngưỡng</a:t>
                      </a:r>
                    </a:p>
                  </a:txBody>
                  <a:tcPr anchor="ctr" marL="73152" marR="73152" marT="18288" marB="18288">
                    <a:solidFill>
                      <a:srgbClr val="10243B"/>
                    </a:solidFill>
                  </a:tcPr>
                </a:tc>
              </a:tr>
              <a:tr h="434340">
                <a:tc>
                  <a:txBody>
                    <a:bodyPr/>
                    <a:lstStyle/>
                    <a:p>
                      <a:r>
                        <a:rPr sz="1300" b="0">
                          <a:solidFill>
                            <a:srgbClr val="1F2A37"/>
                          </a:solidFill>
                          <a:latin typeface="Arial"/>
                        </a:rPr>
                        <a:t>Logistic Regression</a:t>
                      </a:r>
                    </a:p>
                  </a:txBody>
                  <a:tcPr anchor="ctr" marL="73152" marR="73152" marT="18288" marB="18288">
                    <a:solidFill>
                      <a:srgbClr val="ECF1F4"/>
                    </a:solidFill>
                  </a:tcPr>
                </a:tc>
                <a:tc>
                  <a:txBody>
                    <a:bodyPr/>
                    <a:lstStyle/>
                    <a:p>
                      <a:pPr algn="ctr"/>
                      <a:r>
                        <a:rPr sz="1300" b="0">
                          <a:solidFill>
                            <a:srgbClr val="1F2A37"/>
                          </a:solidFill>
                          <a:latin typeface="Arial"/>
                        </a:rPr>
                        <a:t>0,4573</a:t>
                      </a:r>
                    </a:p>
                  </a:txBody>
                  <a:tcPr anchor="ctr" marL="73152" marR="73152" marT="18288" marB="18288">
                    <a:solidFill>
                      <a:srgbClr val="ECF1F4"/>
                    </a:solidFill>
                  </a:tcPr>
                </a:tc>
                <a:tc>
                  <a:txBody>
                    <a:bodyPr/>
                    <a:lstStyle/>
                    <a:p>
                      <a:pPr algn="ctr"/>
                      <a:r>
                        <a:rPr sz="1300" b="0">
                          <a:solidFill>
                            <a:srgbClr val="1F2A37"/>
                          </a:solidFill>
                          <a:latin typeface="Arial"/>
                        </a:rPr>
                        <a:t>0,0420</a:t>
                      </a:r>
                    </a:p>
                  </a:txBody>
                  <a:tcPr anchor="ctr" marL="73152" marR="73152" marT="18288" marB="18288">
                    <a:solidFill>
                      <a:srgbClr val="ECF1F4"/>
                    </a:solidFill>
                  </a:tcPr>
                </a:tc>
                <a:tc>
                  <a:txBody>
                    <a:bodyPr/>
                    <a:lstStyle/>
                    <a:p>
                      <a:pPr algn="ctr"/>
                      <a:r>
                        <a:rPr sz="1300" b="0">
                          <a:solidFill>
                            <a:srgbClr val="1F2A37"/>
                          </a:solidFill>
                          <a:latin typeface="Arial"/>
                        </a:rPr>
                        <a:t>0,49</a:t>
                      </a:r>
                    </a:p>
                  </a:txBody>
                  <a:tcPr anchor="ctr" marL="73152" marR="73152" marT="18288" marB="18288">
                    <a:solidFill>
                      <a:srgbClr val="ECF1F4"/>
                    </a:solidFill>
                  </a:tcPr>
                </a:tc>
              </a:tr>
              <a:tr h="434340">
                <a:tc>
                  <a:txBody>
                    <a:bodyPr/>
                    <a:lstStyle/>
                    <a:p>
                      <a:r>
                        <a:rPr sz="1300" b="0">
                          <a:solidFill>
                            <a:srgbClr val="1F2A37"/>
                          </a:solidFill>
                          <a:latin typeface="Arial"/>
                        </a:rPr>
                        <a:t>Random Forest</a:t>
                      </a:r>
                    </a:p>
                  </a:txBody>
                  <a:tcPr anchor="ctr" marL="73152" marR="73152" marT="18288" marB="18288">
                    <a:solidFill>
                      <a:srgbClr val="FFFFFF"/>
                    </a:solidFill>
                  </a:tcPr>
                </a:tc>
                <a:tc>
                  <a:txBody>
                    <a:bodyPr/>
                    <a:lstStyle/>
                    <a:p>
                      <a:pPr algn="ctr"/>
                      <a:r>
                        <a:rPr sz="1300" b="0">
                          <a:solidFill>
                            <a:srgbClr val="1F2A37"/>
                          </a:solidFill>
                          <a:latin typeface="Arial"/>
                        </a:rPr>
                        <a:t>0,4703</a:t>
                      </a:r>
                    </a:p>
                  </a:txBody>
                  <a:tcPr anchor="ctr" marL="73152" marR="73152" marT="18288" marB="18288">
                    <a:solidFill>
                      <a:srgbClr val="FFFFFF"/>
                    </a:solidFill>
                  </a:tcPr>
                </a:tc>
                <a:tc>
                  <a:txBody>
                    <a:bodyPr/>
                    <a:lstStyle/>
                    <a:p>
                      <a:pPr algn="ctr"/>
                      <a:r>
                        <a:rPr sz="1300" b="0">
                          <a:solidFill>
                            <a:srgbClr val="1F2A37"/>
                          </a:solidFill>
                          <a:latin typeface="Arial"/>
                        </a:rPr>
                        <a:t>0,0250</a:t>
                      </a:r>
                    </a:p>
                  </a:txBody>
                  <a:tcPr anchor="ctr" marL="73152" marR="73152" marT="18288" marB="18288">
                    <a:solidFill>
                      <a:srgbClr val="FFFFFF"/>
                    </a:solidFill>
                  </a:tcPr>
                </a:tc>
                <a:tc>
                  <a:txBody>
                    <a:bodyPr/>
                    <a:lstStyle/>
                    <a:p>
                      <a:pPr algn="ctr"/>
                      <a:r>
                        <a:rPr sz="1300" b="0">
                          <a:solidFill>
                            <a:srgbClr val="1F2A37"/>
                          </a:solidFill>
                          <a:latin typeface="Arial"/>
                        </a:rPr>
                        <a:t>0,49</a:t>
                      </a:r>
                    </a:p>
                  </a:txBody>
                  <a:tcPr anchor="ctr" marL="73152" marR="73152" marT="18288" marB="18288">
                    <a:solidFill>
                      <a:srgbClr val="FFFFFF"/>
                    </a:solidFill>
                  </a:tcPr>
                </a:tc>
              </a:tr>
              <a:tr h="434340">
                <a:tc>
                  <a:txBody>
                    <a:bodyPr/>
                    <a:lstStyle/>
                    <a:p>
                      <a:r>
                        <a:rPr sz="1300" b="0">
                          <a:solidFill>
                            <a:srgbClr val="1F2A37"/>
                          </a:solidFill>
                          <a:latin typeface="Arial"/>
                        </a:rPr>
                        <a:t>Gradient Boosting</a:t>
                      </a:r>
                    </a:p>
                  </a:txBody>
                  <a:tcPr anchor="ctr" marL="73152" marR="73152" marT="18288" marB="18288">
                    <a:solidFill>
                      <a:srgbClr val="ECF1F4"/>
                    </a:solidFill>
                  </a:tcPr>
                </a:tc>
                <a:tc>
                  <a:txBody>
                    <a:bodyPr/>
                    <a:lstStyle/>
                    <a:p>
                      <a:pPr algn="ctr"/>
                      <a:r>
                        <a:rPr sz="1300" b="0">
                          <a:solidFill>
                            <a:srgbClr val="1F2A37"/>
                          </a:solidFill>
                          <a:latin typeface="Arial"/>
                        </a:rPr>
                        <a:t>0,4714</a:t>
                      </a:r>
                    </a:p>
                  </a:txBody>
                  <a:tcPr anchor="ctr" marL="73152" marR="73152" marT="18288" marB="18288">
                    <a:solidFill>
                      <a:srgbClr val="ECF1F4"/>
                    </a:solidFill>
                  </a:tcPr>
                </a:tc>
                <a:tc>
                  <a:txBody>
                    <a:bodyPr/>
                    <a:lstStyle/>
                    <a:p>
                      <a:pPr algn="ctr"/>
                      <a:r>
                        <a:rPr sz="1300" b="0">
                          <a:solidFill>
                            <a:srgbClr val="1F2A37"/>
                          </a:solidFill>
                          <a:latin typeface="Arial"/>
                        </a:rPr>
                        <a:t>0,0237</a:t>
                      </a:r>
                    </a:p>
                  </a:txBody>
                  <a:tcPr anchor="ctr" marL="73152" marR="73152" marT="18288" marB="18288">
                    <a:solidFill>
                      <a:srgbClr val="ECF1F4"/>
                    </a:solidFill>
                  </a:tcPr>
                </a:tc>
                <a:tc>
                  <a:txBody>
                    <a:bodyPr/>
                    <a:lstStyle/>
                    <a:p>
                      <a:pPr algn="ctr"/>
                      <a:r>
                        <a:rPr sz="1300" b="0">
                          <a:solidFill>
                            <a:srgbClr val="1F2A37"/>
                          </a:solidFill>
                          <a:latin typeface="Arial"/>
                        </a:rPr>
                        <a:t>0,49</a:t>
                      </a:r>
                    </a:p>
                  </a:txBody>
                  <a:tcPr anchor="ctr" marL="73152" marR="73152" marT="18288" marB="18288">
                    <a:solidFill>
                      <a:srgbClr val="ECF1F4"/>
                    </a:solidFill>
                  </a:tcPr>
                </a:tc>
              </a:tr>
            </a:tbl>
          </a:graphicData>
        </a:graphic>
      </p:graphicFrame>
      <p:sp>
        <p:nvSpPr>
          <p:cNvPr id="5" name="TextBox 4"/>
          <p:cNvSpPr txBox="1"/>
          <p:nvPr/>
        </p:nvSpPr>
        <p:spPr>
          <a:xfrm>
            <a:off x="640080" y="3566160"/>
            <a:ext cx="5760720" cy="2377440"/>
          </a:xfrm>
          <a:prstGeom prst="rect">
            <a:avLst/>
          </a:prstGeom>
          <a:noFill/>
        </p:spPr>
        <p:txBody>
          <a:bodyPr wrap="square">
            <a:spAutoFit/>
          </a:bodyPr>
          <a:lstStyle/>
          <a:p>
            <a:pPr>
              <a:spcAft>
                <a:spcPts val="1100"/>
              </a:spcAft>
            </a:pPr>
            <a:r>
              <a:rPr sz="1500">
                <a:solidFill>
                  <a:srgbClr val="1F2A37"/>
                </a:solidFill>
                <a:latin typeface="Arial"/>
              </a:rPr>
              <a:t>– Fold cắt theo ngày thị trường, không theo dòng</a:t>
            </a:r>
          </a:p>
          <a:p>
            <a:pPr>
              <a:spcAft>
                <a:spcPts val="1100"/>
              </a:spcAft>
            </a:pPr>
            <a:r>
              <a:rPr sz="1500">
                <a:solidFill>
                  <a:srgbClr val="1F2A37"/>
                </a:solidFill>
                <a:latin typeface="Arial"/>
              </a:rPr>
              <a:t>– CV chỉ chấm giai đoạn từ 2021 trở đi</a:t>
            </a:r>
          </a:p>
          <a:p>
            <a:pPr>
              <a:spcAft>
                <a:spcPts val="1100"/>
              </a:spcAft>
            </a:pPr>
            <a:r>
              <a:rPr sz="1500">
                <a:solidFill>
                  <a:srgbClr val="1F2A37"/>
                </a:solidFill>
                <a:latin typeface="Arial"/>
              </a:rPr>
              <a:t>– Ngưỡng chọn từ xác suất out-of-fold trên TRAIN</a:t>
            </a:r>
          </a:p>
          <a:p>
            <a:pPr>
              <a:spcAft>
                <a:spcPts val="1100"/>
              </a:spcAft>
            </a:pPr>
            <a:r>
              <a:rPr sz="1500">
                <a:solidFill>
                  <a:srgbClr val="1F2A37"/>
                </a:solidFill>
                <a:latin typeface="Arial"/>
              </a:rPr>
              <a:t>– Ràng buộc precision và tỷ lệ UP tối đa 50%</a:t>
            </a:r>
          </a:p>
        </p:txBody>
      </p:sp>
      <p:pic>
        <p:nvPicPr>
          <p:cNvPr id="6" name="Picture 5" descr="cv_f1_up.png"/>
          <p:cNvPicPr>
            <a:picLocks noChangeAspect="1"/>
          </p:cNvPicPr>
          <p:nvPr/>
        </p:nvPicPr>
        <p:blipFill>
          <a:blip r:embed="rId2"/>
          <a:stretch>
            <a:fillRect/>
          </a:stretch>
        </p:blipFill>
        <p:spPr>
          <a:xfrm>
            <a:off x="6583680" y="2371060"/>
            <a:ext cx="5029200" cy="2573079"/>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reports/tuning_results.csv, reports/cv_fold_results.csv, config/settings.py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Siêu tham số chốt: cây nông, lá lớn để giảm overfit</a:t>
            </a:r>
          </a:p>
          <a:p>
            <a:r>
              <a:rPr sz="1400">
                <a:solidFill>
                  <a:srgbClr val="5B6672"/>
                </a:solidFill>
                <a:latin typeface="Arial"/>
              </a:rPr>
              <a:t>Chương 3 - Cấu hình model và độ ổn định CV</a:t>
            </a:r>
          </a:p>
        </p:txBody>
      </p:sp>
      <p:graphicFrame>
        <p:nvGraphicFramePr>
          <p:cNvPr id="4" name="Table 3"/>
          <p:cNvGraphicFramePr>
            <a:graphicFrameLocks noGrp="1"/>
          </p:cNvGraphicFramePr>
          <p:nvPr/>
        </p:nvGraphicFramePr>
        <p:xfrm>
          <a:off x="640080" y="1600200"/>
          <a:ext cx="10881360" cy="1737360"/>
        </p:xfrm>
        <a:graphic>
          <a:graphicData uri="http://schemas.openxmlformats.org/drawingml/2006/table">
            <a:tbl>
              <a:tblPr firstRow="1" bandRow="1">
                <a:tableStyleId>{5C22544A-7EE6-4342-B048-85BDC9FD1C3A}</a:tableStyleId>
              </a:tblPr>
              <a:tblGrid>
                <a:gridCol w="2720340"/>
                <a:gridCol w="8161020"/>
              </a:tblGrid>
              <a:tr h="434340">
                <a:tc>
                  <a:txBody>
                    <a:bodyPr/>
                    <a:lstStyle/>
                    <a:p>
                      <a:r>
                        <a:rPr sz="1200" b="1">
                          <a:solidFill>
                            <a:srgbClr val="FFFFFF"/>
                          </a:solidFill>
                          <a:latin typeface="Arial"/>
                        </a:rPr>
                        <a:t>Model</a:t>
                      </a:r>
                    </a:p>
                  </a:txBody>
                  <a:tcPr anchor="ctr" marL="73152" marR="73152" marT="18288" marB="18288">
                    <a:solidFill>
                      <a:srgbClr val="10243B"/>
                    </a:solidFill>
                  </a:tcPr>
                </a:tc>
                <a:tc>
                  <a:txBody>
                    <a:bodyPr/>
                    <a:lstStyle/>
                    <a:p>
                      <a:pPr algn="ctr"/>
                      <a:r>
                        <a:rPr sz="1200" b="1">
                          <a:solidFill>
                            <a:srgbClr val="FFFFFF"/>
                          </a:solidFill>
                          <a:latin typeface="Arial"/>
                        </a:rPr>
                        <a:t>Siêu tham số đã chốt</a:t>
                      </a:r>
                    </a:p>
                  </a:txBody>
                  <a:tcPr anchor="ctr" marL="73152" marR="73152" marT="18288" marB="18288">
                    <a:solidFill>
                      <a:srgbClr val="10243B"/>
                    </a:solidFill>
                  </a:tcPr>
                </a:tc>
              </a:tr>
              <a:tr h="434340">
                <a:tc>
                  <a:txBody>
                    <a:bodyPr/>
                    <a:lstStyle/>
                    <a:p>
                      <a:r>
                        <a:rPr sz="1200" b="0">
                          <a:solidFill>
                            <a:srgbClr val="1F2A37"/>
                          </a:solidFill>
                          <a:latin typeface="Arial"/>
                        </a:rPr>
                        <a:t>Logistic Regression</a:t>
                      </a:r>
                    </a:p>
                  </a:txBody>
                  <a:tcPr anchor="ctr" marL="73152" marR="73152" marT="18288" marB="18288">
                    <a:solidFill>
                      <a:srgbClr val="ECF1F4"/>
                    </a:solidFill>
                  </a:tcPr>
                </a:tc>
                <a:tc>
                  <a:txBody>
                    <a:bodyPr/>
                    <a:lstStyle/>
                    <a:p>
                      <a:pPr algn="ctr"/>
                      <a:r>
                        <a:rPr sz="1200" b="0">
                          <a:solidFill>
                            <a:srgbClr val="1F2A37"/>
                          </a:solidFill>
                          <a:latin typeface="Arial"/>
                        </a:rPr>
                        <a:t>C=2.68e-05, solver=liblinear</a:t>
                      </a:r>
                    </a:p>
                  </a:txBody>
                  <a:tcPr anchor="ctr" marL="73152" marR="73152" marT="18288" marB="18288">
                    <a:solidFill>
                      <a:srgbClr val="ECF1F4"/>
                    </a:solidFill>
                  </a:tcPr>
                </a:tc>
              </a:tr>
              <a:tr h="434340">
                <a:tc>
                  <a:txBody>
                    <a:bodyPr/>
                    <a:lstStyle/>
                    <a:p>
                      <a:r>
                        <a:rPr sz="1200" b="0">
                          <a:solidFill>
                            <a:srgbClr val="1F2A37"/>
                          </a:solidFill>
                          <a:latin typeface="Arial"/>
                        </a:rPr>
                        <a:t>Random Forest (final)</a:t>
                      </a:r>
                    </a:p>
                  </a:txBody>
                  <a:tcPr anchor="ctr" marL="73152" marR="73152" marT="18288" marB="18288">
                    <a:solidFill>
                      <a:srgbClr val="FFFFFF"/>
                    </a:solidFill>
                  </a:tcPr>
                </a:tc>
                <a:tc>
                  <a:txBody>
                    <a:bodyPr/>
                    <a:lstStyle/>
                    <a:p>
                      <a:pPr algn="ctr"/>
                      <a:r>
                        <a:rPr sz="1200" b="0">
                          <a:solidFill>
                            <a:srgbClr val="1F2A37"/>
                          </a:solidFill>
                          <a:latin typeface="Arial"/>
                        </a:rPr>
                        <a:t>n_estimators=130, max_depth=8, min_samples_leaf=100, max_features=0.2</a:t>
                      </a:r>
                    </a:p>
                  </a:txBody>
                  <a:tcPr anchor="ctr" marL="73152" marR="73152" marT="18288" marB="18288">
                    <a:solidFill>
                      <a:srgbClr val="FFFFFF"/>
                    </a:solidFill>
                  </a:tcPr>
                </a:tc>
              </a:tr>
              <a:tr h="434340">
                <a:tc>
                  <a:txBody>
                    <a:bodyPr/>
                    <a:lstStyle/>
                    <a:p>
                      <a:r>
                        <a:rPr sz="1200" b="0">
                          <a:solidFill>
                            <a:srgbClr val="1F2A37"/>
                          </a:solidFill>
                          <a:latin typeface="Arial"/>
                        </a:rPr>
                        <a:t>Gradient Boosting</a:t>
                      </a:r>
                    </a:p>
                  </a:txBody>
                  <a:tcPr anchor="ctr" marL="73152" marR="73152" marT="18288" marB="18288">
                    <a:solidFill>
                      <a:srgbClr val="ECF1F4"/>
                    </a:solidFill>
                  </a:tcPr>
                </a:tc>
                <a:tc>
                  <a:txBody>
                    <a:bodyPr/>
                    <a:lstStyle/>
                    <a:p>
                      <a:pPr algn="ctr"/>
                      <a:r>
                        <a:rPr sz="1200" b="0">
                          <a:solidFill>
                            <a:srgbClr val="1F2A37"/>
                          </a:solidFill>
                          <a:latin typeface="Arial"/>
                        </a:rPr>
                        <a:t>n_estimators=110, learning_rate=0.25, max_depth=2, subsample=0.6</a:t>
                      </a:r>
                    </a:p>
                  </a:txBody>
                  <a:tcPr anchor="ctr" marL="73152" marR="73152" marT="18288" marB="18288">
                    <a:solidFill>
                      <a:srgbClr val="ECF1F4"/>
                    </a:solidFill>
                  </a:tcPr>
                </a:tc>
              </a:tr>
            </a:tbl>
          </a:graphicData>
        </a:graphic>
      </p:graphicFrame>
      <p:sp>
        <p:nvSpPr>
          <p:cNvPr id="5" name="TextBox 4"/>
          <p:cNvSpPr txBox="1"/>
          <p:nvPr/>
        </p:nvSpPr>
        <p:spPr>
          <a:xfrm>
            <a:off x="640080" y="3611880"/>
            <a:ext cx="4572000" cy="2194560"/>
          </a:xfrm>
          <a:prstGeom prst="rect">
            <a:avLst/>
          </a:prstGeom>
          <a:noFill/>
        </p:spPr>
        <p:txBody>
          <a:bodyPr wrap="square">
            <a:spAutoFit/>
          </a:bodyPr>
          <a:lstStyle/>
          <a:p>
            <a:pPr>
              <a:spcAft>
                <a:spcPts val="1000"/>
              </a:spcAft>
            </a:pPr>
            <a:r>
              <a:rPr sz="1500">
                <a:solidFill>
                  <a:srgbClr val="1F2A37"/>
                </a:solidFill>
                <a:latin typeface="Arial"/>
              </a:rPr>
              <a:t>– Cây nông, lá tối thiểu 100 mẫu</a:t>
            </a:r>
          </a:p>
          <a:p>
            <a:pPr>
              <a:spcAft>
                <a:spcPts val="1000"/>
              </a:spcAft>
            </a:pPr>
            <a:r>
              <a:rPr sz="1500">
                <a:solidFill>
                  <a:srgbClr val="1F2A37"/>
                </a:solidFill>
                <a:latin typeface="Arial"/>
              </a:rPr>
              <a:t>– class_weight balanced_subsample cho RF</a:t>
            </a:r>
          </a:p>
          <a:p>
            <a:pPr>
              <a:spcAft>
                <a:spcPts val="1000"/>
              </a:spcAft>
            </a:pPr>
            <a:r>
              <a:rPr sz="1500">
                <a:solidFill>
                  <a:srgbClr val="1F2A37"/>
                </a:solidFill>
                <a:latin typeface="Arial"/>
              </a:rPr>
              <a:t>– random_state 42 nên tái lập được</a:t>
            </a:r>
          </a:p>
          <a:p>
            <a:pPr>
              <a:spcAft>
                <a:spcPts val="1000"/>
              </a:spcAft>
            </a:pPr>
            <a:r>
              <a:rPr sz="1500">
                <a:solidFill>
                  <a:srgbClr val="1F2A37"/>
                </a:solidFill>
                <a:latin typeface="Arial"/>
              </a:rPr>
              <a:t>– F1_UP dao động theo chế độ thị trường</a:t>
            </a:r>
          </a:p>
        </p:txBody>
      </p:sp>
      <p:pic>
        <p:nvPicPr>
          <p:cNvPr id="6" name="Picture 5" descr="cv_fold_spread.png"/>
          <p:cNvPicPr>
            <a:picLocks noChangeAspect="1"/>
          </p:cNvPicPr>
          <p:nvPr/>
        </p:nvPicPr>
        <p:blipFill>
          <a:blip r:embed="rId2"/>
          <a:stretch>
            <a:fillRect/>
          </a:stretch>
        </p:blipFill>
        <p:spPr>
          <a:xfrm>
            <a:off x="5866707" y="3429000"/>
            <a:ext cx="5274425" cy="2468880"/>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reports/best_params.json, reports/cv_fold_results.csv, models/model_metadata.json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Tuning Lab ghi lại 350 lần thử cấu hình, chọn tay rồi khóa lại</a:t>
            </a:r>
          </a:p>
          <a:p>
            <a:r>
              <a:rPr sz="1400">
                <a:solidFill>
                  <a:srgbClr val="5B6672"/>
                </a:solidFill>
                <a:latin typeface="Arial"/>
              </a:rPr>
              <a:t>Chương 3 - Quy trình thử siêu tham số</a:t>
            </a:r>
          </a:p>
        </p:txBody>
      </p:sp>
      <p:sp>
        <p:nvSpPr>
          <p:cNvPr id="4" name="TextBox 3"/>
          <p:cNvSpPr txBox="1"/>
          <p:nvPr/>
        </p:nvSpPr>
        <p:spPr>
          <a:xfrm>
            <a:off x="640080" y="1600200"/>
            <a:ext cx="5577840" cy="4023360"/>
          </a:xfrm>
          <a:prstGeom prst="rect">
            <a:avLst/>
          </a:prstGeom>
          <a:noFill/>
        </p:spPr>
        <p:txBody>
          <a:bodyPr wrap="square">
            <a:spAutoFit/>
          </a:bodyPr>
          <a:lstStyle/>
          <a:p>
            <a:pPr>
              <a:spcAft>
                <a:spcPts val="1200"/>
              </a:spcAft>
            </a:pPr>
            <a:r>
              <a:rPr sz="1600">
                <a:solidFill>
                  <a:srgbClr val="1F2A37"/>
                </a:solidFill>
                <a:latin typeface="Arial"/>
              </a:rPr>
              <a:t>– Trang /tuning: nhập tham số, chạy CV trên TRAIN</a:t>
            </a:r>
          </a:p>
          <a:p>
            <a:pPr>
              <a:spcAft>
                <a:spcPts val="1200"/>
              </a:spcAft>
            </a:pPr>
            <a:r>
              <a:rPr sz="1600">
                <a:solidFill>
                  <a:srgbClr val="1F2A37"/>
                </a:solidFill>
                <a:latin typeface="Arial"/>
              </a:rPr>
              <a:t>– Mỗi lần chạy ghi một dòng vào tuning_history.csv</a:t>
            </a:r>
          </a:p>
          <a:p>
            <a:pPr>
              <a:spcAft>
                <a:spcPts val="1200"/>
              </a:spcAft>
            </a:pPr>
            <a:r>
              <a:rPr sz="1600">
                <a:solidFill>
                  <a:srgbClr val="1F2A37"/>
                </a:solidFill>
                <a:latin typeface="Arial"/>
              </a:rPr>
              <a:t>– Chỉ TRAIN được dùng, không nhìn VALIDATION</a:t>
            </a:r>
          </a:p>
          <a:p>
            <a:pPr>
              <a:spcAft>
                <a:spcPts val="1200"/>
              </a:spcAft>
            </a:pPr>
            <a:r>
              <a:rPr sz="1600">
                <a:solidFill>
                  <a:srgbClr val="1F2A37"/>
                </a:solidFill>
                <a:latin typeface="Arial"/>
              </a:rPr>
              <a:t>– Cấu hình chốt lưu vào manual_config.json</a:t>
            </a:r>
          </a:p>
          <a:p>
            <a:pPr>
              <a:spcAft>
                <a:spcPts val="1200"/>
              </a:spcAft>
            </a:pPr>
            <a:r>
              <a:rPr sz="1600">
                <a:solidFill>
                  <a:srgbClr val="1F2A37"/>
                </a:solidFill>
                <a:latin typeface="Arial"/>
              </a:rPr>
              <a:t>– Pipeline từ chối chạy nếu thiếu cấu hình model</a:t>
            </a:r>
          </a:p>
          <a:p>
            <a:pPr>
              <a:spcAft>
                <a:spcPts val="1200"/>
              </a:spcAft>
            </a:pPr>
            <a:r>
              <a:rPr sz="1600">
                <a:solidFill>
                  <a:srgbClr val="1F2A37"/>
                </a:solidFill>
                <a:latin typeface="Arial"/>
              </a:rPr>
              <a:t>– Fingerprint dữ liệu chặn dùng lại kết quả cũ</a:t>
            </a:r>
          </a:p>
        </p:txBody>
      </p:sp>
      <p:graphicFrame>
        <p:nvGraphicFramePr>
          <p:cNvPr id="5" name="Table 4"/>
          <p:cNvGraphicFramePr>
            <a:graphicFrameLocks noGrp="1"/>
          </p:cNvGraphicFramePr>
          <p:nvPr/>
        </p:nvGraphicFramePr>
        <p:xfrm>
          <a:off x="6492240" y="2011680"/>
          <a:ext cx="5029200" cy="2194560"/>
        </p:xfrm>
        <a:graphic>
          <a:graphicData uri="http://schemas.openxmlformats.org/drawingml/2006/table">
            <a:tbl>
              <a:tblPr firstRow="1" bandRow="1">
                <a:tableStyleId>{5C22544A-7EE6-4342-B048-85BDC9FD1C3A}</a:tableStyleId>
              </a:tblPr>
              <a:tblGrid>
                <a:gridCol w="3108960"/>
                <a:gridCol w="1920240"/>
              </a:tblGrid>
              <a:tr h="438912">
                <a:tc>
                  <a:txBody>
                    <a:bodyPr/>
                    <a:lstStyle/>
                    <a:p>
                      <a:r>
                        <a:rPr sz="1400" b="1">
                          <a:solidFill>
                            <a:srgbClr val="FFFFFF"/>
                          </a:solidFill>
                          <a:latin typeface="Arial"/>
                        </a:rPr>
                        <a:t>Số lần thử (tuning_history.csv)</a:t>
                      </a:r>
                    </a:p>
                  </a:txBody>
                  <a:tcPr anchor="ctr" marL="73152" marR="73152" marT="18288" marB="18288">
                    <a:solidFill>
                      <a:srgbClr val="10243B"/>
                    </a:solidFill>
                  </a:tcPr>
                </a:tc>
                <a:tc>
                  <a:txBody>
                    <a:bodyPr/>
                    <a:lstStyle/>
                    <a:p>
                      <a:pPr algn="ctr"/>
                      <a:r>
                        <a:rPr sz="1400" b="1">
                          <a:solidFill>
                            <a:srgbClr val="FFFFFF"/>
                          </a:solidFill>
                          <a:latin typeface="Arial"/>
                        </a:rPr>
                        <a:t>Số run</a:t>
                      </a:r>
                    </a:p>
                  </a:txBody>
                  <a:tcPr anchor="ctr" marL="73152" marR="73152" marT="18288" marB="18288">
                    <a:solidFill>
                      <a:srgbClr val="10243B"/>
                    </a:solidFill>
                  </a:tcPr>
                </a:tc>
              </a:tr>
              <a:tr h="438912">
                <a:tc>
                  <a:txBody>
                    <a:bodyPr/>
                    <a:lstStyle/>
                    <a:p>
                      <a:r>
                        <a:rPr sz="1400" b="0">
                          <a:solidFill>
                            <a:srgbClr val="1F2A37"/>
                          </a:solidFill>
                          <a:latin typeface="Arial"/>
                        </a:rPr>
                        <a:t>Logistic Regression</a:t>
                      </a:r>
                    </a:p>
                  </a:txBody>
                  <a:tcPr anchor="ctr" marL="73152" marR="73152" marT="18288" marB="18288">
                    <a:solidFill>
                      <a:srgbClr val="ECF1F4"/>
                    </a:solidFill>
                  </a:tcPr>
                </a:tc>
                <a:tc>
                  <a:txBody>
                    <a:bodyPr/>
                    <a:lstStyle/>
                    <a:p>
                      <a:pPr algn="ctr"/>
                      <a:r>
                        <a:rPr sz="1400" b="0">
                          <a:solidFill>
                            <a:srgbClr val="1F2A37"/>
                          </a:solidFill>
                          <a:latin typeface="Arial"/>
                        </a:rPr>
                        <a:t>371</a:t>
                      </a:r>
                    </a:p>
                  </a:txBody>
                  <a:tcPr anchor="ctr" marL="73152" marR="73152" marT="18288" marB="18288">
                    <a:solidFill>
                      <a:srgbClr val="ECF1F4"/>
                    </a:solidFill>
                  </a:tcPr>
                </a:tc>
              </a:tr>
              <a:tr h="438912">
                <a:tc>
                  <a:txBody>
                    <a:bodyPr/>
                    <a:lstStyle/>
                    <a:p>
                      <a:r>
                        <a:rPr sz="1400" b="0">
                          <a:solidFill>
                            <a:srgbClr val="1F2A37"/>
                          </a:solidFill>
                          <a:latin typeface="Arial"/>
                        </a:rPr>
                        <a:t>Random Forest</a:t>
                      </a:r>
                    </a:p>
                  </a:txBody>
                  <a:tcPr anchor="ctr" marL="73152" marR="73152" marT="18288" marB="18288">
                    <a:solidFill>
                      <a:srgbClr val="FFFFFF"/>
                    </a:solidFill>
                  </a:tcPr>
                </a:tc>
                <a:tc>
                  <a:txBody>
                    <a:bodyPr/>
                    <a:lstStyle/>
                    <a:p>
                      <a:pPr algn="ctr"/>
                      <a:r>
                        <a:rPr sz="1400" b="0">
                          <a:solidFill>
                            <a:srgbClr val="1F2A37"/>
                          </a:solidFill>
                          <a:latin typeface="Arial"/>
                        </a:rPr>
                        <a:t>81</a:t>
                      </a:r>
                    </a:p>
                  </a:txBody>
                  <a:tcPr anchor="ctr" marL="73152" marR="73152" marT="18288" marB="18288">
                    <a:solidFill>
                      <a:srgbClr val="FFFFFF"/>
                    </a:solidFill>
                  </a:tcPr>
                </a:tc>
              </a:tr>
              <a:tr h="438912">
                <a:tc>
                  <a:txBody>
                    <a:bodyPr/>
                    <a:lstStyle/>
                    <a:p>
                      <a:r>
                        <a:rPr sz="1400" b="0">
                          <a:solidFill>
                            <a:srgbClr val="1F2A37"/>
                          </a:solidFill>
                          <a:latin typeface="Arial"/>
                        </a:rPr>
                        <a:t>Gradient Boosting</a:t>
                      </a:r>
                    </a:p>
                  </a:txBody>
                  <a:tcPr anchor="ctr" marL="73152" marR="73152" marT="18288" marB="18288">
                    <a:solidFill>
                      <a:srgbClr val="ECF1F4"/>
                    </a:solidFill>
                  </a:tcPr>
                </a:tc>
                <a:tc>
                  <a:txBody>
                    <a:bodyPr/>
                    <a:lstStyle/>
                    <a:p>
                      <a:pPr algn="ctr"/>
                      <a:r>
                        <a:rPr sz="1400" b="0">
                          <a:solidFill>
                            <a:srgbClr val="1F2A37"/>
                          </a:solidFill>
                          <a:latin typeface="Arial"/>
                        </a:rPr>
                        <a:t>50</a:t>
                      </a:r>
                    </a:p>
                  </a:txBody>
                  <a:tcPr anchor="ctr" marL="73152" marR="73152" marT="18288" marB="18288">
                    <a:solidFill>
                      <a:srgbClr val="ECF1F4"/>
                    </a:solidFill>
                  </a:tcPr>
                </a:tc>
              </a:tr>
              <a:tr h="438912">
                <a:tc>
                  <a:txBody>
                    <a:bodyPr/>
                    <a:lstStyle/>
                    <a:p>
                      <a:r>
                        <a:rPr sz="1400" b="0">
                          <a:solidFill>
                            <a:srgbClr val="1F2A37"/>
                          </a:solidFill>
                          <a:latin typeface="Arial"/>
                        </a:rPr>
                        <a:t>Tổng</a:t>
                      </a:r>
                    </a:p>
                  </a:txBody>
                  <a:tcPr anchor="ctr" marL="73152" marR="73152" marT="18288" marB="18288">
                    <a:solidFill>
                      <a:srgbClr val="FFFFFF"/>
                    </a:solidFill>
                  </a:tcPr>
                </a:tc>
                <a:tc>
                  <a:txBody>
                    <a:bodyPr/>
                    <a:lstStyle/>
                    <a:p>
                      <a:pPr algn="ctr"/>
                      <a:r>
                        <a:rPr sz="1400" b="0">
                          <a:solidFill>
                            <a:srgbClr val="1F2A37"/>
                          </a:solidFill>
                          <a:latin typeface="Arial"/>
                        </a:rPr>
                        <a:t>502</a:t>
                      </a:r>
                    </a:p>
                  </a:txBody>
                  <a:tcPr anchor="ctr" marL="73152" marR="73152" marT="18288" marB="18288">
                    <a:solidFill>
                      <a:srgbClr val="FFFFFF"/>
                    </a:solidFill>
                  </a:tcPr>
                </a:tc>
              </a:tr>
            </a:tbl>
          </a:graphicData>
        </a:graphic>
      </p:graphicFrame>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experiments/tuning_history.csv, experiments/manual_config.json, services/tuning_lab.py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Random Forest thắng trên VALIDATION với F1_UP 0,4773</a:t>
            </a:r>
          </a:p>
          <a:p>
            <a:r>
              <a:rPr sz="1400">
                <a:solidFill>
                  <a:srgbClr val="5B6672"/>
                </a:solidFill>
                <a:latin typeface="Arial"/>
              </a:rPr>
              <a:t>Chương 3.3.2 - Chọn họ mô hình</a:t>
            </a:r>
          </a:p>
        </p:txBody>
      </p:sp>
      <p:graphicFrame>
        <p:nvGraphicFramePr>
          <p:cNvPr id="4" name="Table 3"/>
          <p:cNvGraphicFramePr>
            <a:graphicFrameLocks noGrp="1"/>
          </p:cNvGraphicFramePr>
          <p:nvPr/>
        </p:nvGraphicFramePr>
        <p:xfrm>
          <a:off x="548640" y="1600200"/>
          <a:ext cx="6035040" cy="2103120"/>
        </p:xfrm>
        <a:graphic>
          <a:graphicData uri="http://schemas.openxmlformats.org/drawingml/2006/table">
            <a:tbl>
              <a:tblPr firstRow="1" bandRow="1">
                <a:tableStyleId>{5C22544A-7EE6-4342-B048-85BDC9FD1C3A}</a:tableStyleId>
              </a:tblPr>
              <a:tblGrid>
                <a:gridCol w="1645920"/>
                <a:gridCol w="1097280"/>
                <a:gridCol w="1097280"/>
                <a:gridCol w="1097280"/>
                <a:gridCol w="1097280"/>
              </a:tblGrid>
              <a:tr h="420624">
                <a:tc>
                  <a:txBody>
                    <a:bodyPr/>
                    <a:lstStyle/>
                    <a:p>
                      <a:r>
                        <a:rPr sz="1200" b="1">
                          <a:solidFill>
                            <a:srgbClr val="FFFFFF"/>
                          </a:solidFill>
                          <a:latin typeface="Arial"/>
                        </a:rPr>
                        <a:t>Model</a:t>
                      </a:r>
                    </a:p>
                  </a:txBody>
                  <a:tcPr anchor="ctr" marL="73152" marR="73152" marT="18288" marB="18288">
                    <a:solidFill>
                      <a:srgbClr val="10243B"/>
                    </a:solidFill>
                  </a:tcPr>
                </a:tc>
                <a:tc>
                  <a:txBody>
                    <a:bodyPr/>
                    <a:lstStyle/>
                    <a:p>
                      <a:pPr algn="ctr"/>
                      <a:r>
                        <a:rPr sz="1200" b="1">
                          <a:solidFill>
                            <a:srgbClr val="FFFFFF"/>
                          </a:solidFill>
                          <a:latin typeface="Arial"/>
                        </a:rPr>
                        <a:t>F1_UP</a:t>
                      </a:r>
                    </a:p>
                  </a:txBody>
                  <a:tcPr anchor="ctr" marL="73152" marR="73152" marT="18288" marB="18288">
                    <a:solidFill>
                      <a:srgbClr val="10243B"/>
                    </a:solidFill>
                  </a:tcPr>
                </a:tc>
                <a:tc>
                  <a:txBody>
                    <a:bodyPr/>
                    <a:lstStyle/>
                    <a:p>
                      <a:pPr algn="ctr"/>
                      <a:r>
                        <a:rPr sz="1200" b="1">
                          <a:solidFill>
                            <a:srgbClr val="FFFFFF"/>
                          </a:solidFill>
                          <a:latin typeface="Arial"/>
                        </a:rPr>
                        <a:t>Precision_UP</a:t>
                      </a:r>
                    </a:p>
                  </a:txBody>
                  <a:tcPr anchor="ctr" marL="73152" marR="73152" marT="18288" marB="18288">
                    <a:solidFill>
                      <a:srgbClr val="10243B"/>
                    </a:solidFill>
                  </a:tcPr>
                </a:tc>
                <a:tc>
                  <a:txBody>
                    <a:bodyPr/>
                    <a:lstStyle/>
                    <a:p>
                      <a:pPr algn="ctr"/>
                      <a:r>
                        <a:rPr sz="1200" b="1">
                          <a:solidFill>
                            <a:srgbClr val="FFFFFF"/>
                          </a:solidFill>
                          <a:latin typeface="Arial"/>
                        </a:rPr>
                        <a:t>Recall_UP</a:t>
                      </a:r>
                    </a:p>
                  </a:txBody>
                  <a:tcPr anchor="ctr" marL="73152" marR="73152" marT="18288" marB="18288">
                    <a:solidFill>
                      <a:srgbClr val="10243B"/>
                    </a:solidFill>
                  </a:tcPr>
                </a:tc>
                <a:tc>
                  <a:txBody>
                    <a:bodyPr/>
                    <a:lstStyle/>
                    <a:p>
                      <a:pPr algn="ctr"/>
                      <a:r>
                        <a:rPr sz="1200" b="1">
                          <a:solidFill>
                            <a:srgbClr val="FFFFFF"/>
                          </a:solidFill>
                          <a:latin typeface="Arial"/>
                        </a:rPr>
                        <a:t>Accuracy</a:t>
                      </a:r>
                    </a:p>
                  </a:txBody>
                  <a:tcPr anchor="ctr" marL="73152" marR="73152" marT="18288" marB="18288">
                    <a:solidFill>
                      <a:srgbClr val="10243B"/>
                    </a:solidFill>
                  </a:tcPr>
                </a:tc>
              </a:tr>
              <a:tr h="420624">
                <a:tc>
                  <a:txBody>
                    <a:bodyPr/>
                    <a:lstStyle/>
                    <a:p>
                      <a:r>
                        <a:rPr sz="1200" b="0">
                          <a:solidFill>
                            <a:srgbClr val="1F2A37"/>
                          </a:solidFill>
                          <a:latin typeface="Arial"/>
                        </a:rPr>
                        <a:t>Logistic Regression</a:t>
                      </a:r>
                    </a:p>
                  </a:txBody>
                  <a:tcPr anchor="ctr" marL="73152" marR="73152" marT="18288" marB="18288">
                    <a:solidFill>
                      <a:srgbClr val="ECF1F4"/>
                    </a:solidFill>
                  </a:tcPr>
                </a:tc>
                <a:tc>
                  <a:txBody>
                    <a:bodyPr/>
                    <a:lstStyle/>
                    <a:p>
                      <a:pPr algn="ctr"/>
                      <a:r>
                        <a:rPr sz="1200" b="0">
                          <a:solidFill>
                            <a:srgbClr val="1F2A37"/>
                          </a:solidFill>
                          <a:latin typeface="Arial"/>
                        </a:rPr>
                        <a:t>0,4350</a:t>
                      </a:r>
                    </a:p>
                  </a:txBody>
                  <a:tcPr anchor="ctr" marL="73152" marR="73152" marT="18288" marB="18288">
                    <a:solidFill>
                      <a:srgbClr val="ECF1F4"/>
                    </a:solidFill>
                  </a:tcPr>
                </a:tc>
                <a:tc>
                  <a:txBody>
                    <a:bodyPr/>
                    <a:lstStyle/>
                    <a:p>
                      <a:pPr algn="ctr"/>
                      <a:r>
                        <a:rPr sz="1200" b="0">
                          <a:solidFill>
                            <a:srgbClr val="1F2A37"/>
                          </a:solidFill>
                          <a:latin typeface="Arial"/>
                        </a:rPr>
                        <a:t>0,3881</a:t>
                      </a:r>
                    </a:p>
                  </a:txBody>
                  <a:tcPr anchor="ctr" marL="73152" marR="73152" marT="18288" marB="18288">
                    <a:solidFill>
                      <a:srgbClr val="ECF1F4"/>
                    </a:solidFill>
                  </a:tcPr>
                </a:tc>
                <a:tc>
                  <a:txBody>
                    <a:bodyPr/>
                    <a:lstStyle/>
                    <a:p>
                      <a:pPr algn="ctr"/>
                      <a:r>
                        <a:rPr sz="1200" b="0">
                          <a:solidFill>
                            <a:srgbClr val="1F2A37"/>
                          </a:solidFill>
                          <a:latin typeface="Arial"/>
                        </a:rPr>
                        <a:t>0,4949</a:t>
                      </a:r>
                    </a:p>
                  </a:txBody>
                  <a:tcPr anchor="ctr" marL="73152" marR="73152" marT="18288" marB="18288">
                    <a:solidFill>
                      <a:srgbClr val="ECF1F4"/>
                    </a:solidFill>
                  </a:tcPr>
                </a:tc>
                <a:tc>
                  <a:txBody>
                    <a:bodyPr/>
                    <a:lstStyle/>
                    <a:p>
                      <a:pPr algn="ctr"/>
                      <a:r>
                        <a:rPr sz="1200" b="0">
                          <a:solidFill>
                            <a:srgbClr val="1F2A37"/>
                          </a:solidFill>
                          <a:latin typeface="Arial"/>
                        </a:rPr>
                        <a:t>0,5736</a:t>
                      </a:r>
                    </a:p>
                  </a:txBody>
                  <a:tcPr anchor="ctr" marL="73152" marR="73152" marT="18288" marB="18288">
                    <a:solidFill>
                      <a:srgbClr val="ECF1F4"/>
                    </a:solidFill>
                  </a:tcPr>
                </a:tc>
              </a:tr>
              <a:tr h="420624">
                <a:tc>
                  <a:txBody>
                    <a:bodyPr/>
                    <a:lstStyle/>
                    <a:p>
                      <a:r>
                        <a:rPr sz="1200" b="0">
                          <a:solidFill>
                            <a:srgbClr val="1F2A37"/>
                          </a:solidFill>
                          <a:latin typeface="Arial"/>
                        </a:rPr>
                        <a:t>Random Forest</a:t>
                      </a:r>
                    </a:p>
                  </a:txBody>
                  <a:tcPr anchor="ctr" marL="73152" marR="73152" marT="18288" marB="18288">
                    <a:solidFill>
                      <a:srgbClr val="FFFFFF"/>
                    </a:solidFill>
                  </a:tcPr>
                </a:tc>
                <a:tc>
                  <a:txBody>
                    <a:bodyPr/>
                    <a:lstStyle/>
                    <a:p>
                      <a:pPr algn="ctr"/>
                      <a:r>
                        <a:rPr sz="1200" b="0">
                          <a:solidFill>
                            <a:srgbClr val="1F2A37"/>
                          </a:solidFill>
                          <a:latin typeface="Arial"/>
                        </a:rPr>
                        <a:t>0,4773</a:t>
                      </a:r>
                    </a:p>
                  </a:txBody>
                  <a:tcPr anchor="ctr" marL="73152" marR="73152" marT="18288" marB="18288">
                    <a:solidFill>
                      <a:srgbClr val="FFFFFF"/>
                    </a:solidFill>
                  </a:tcPr>
                </a:tc>
                <a:tc>
                  <a:txBody>
                    <a:bodyPr/>
                    <a:lstStyle/>
                    <a:p>
                      <a:pPr algn="ctr"/>
                      <a:r>
                        <a:rPr sz="1200" b="0">
                          <a:solidFill>
                            <a:srgbClr val="1F2A37"/>
                          </a:solidFill>
                          <a:latin typeface="Arial"/>
                        </a:rPr>
                        <a:t>0,3952</a:t>
                      </a:r>
                    </a:p>
                  </a:txBody>
                  <a:tcPr anchor="ctr" marL="73152" marR="73152" marT="18288" marB="18288">
                    <a:solidFill>
                      <a:srgbClr val="FFFFFF"/>
                    </a:solidFill>
                  </a:tcPr>
                </a:tc>
                <a:tc>
                  <a:txBody>
                    <a:bodyPr/>
                    <a:lstStyle/>
                    <a:p>
                      <a:pPr algn="ctr"/>
                      <a:r>
                        <a:rPr sz="1200" b="0">
                          <a:solidFill>
                            <a:srgbClr val="1F2A37"/>
                          </a:solidFill>
                          <a:latin typeface="Arial"/>
                        </a:rPr>
                        <a:t>0,6026</a:t>
                      </a:r>
                    </a:p>
                  </a:txBody>
                  <a:tcPr anchor="ctr" marL="73152" marR="73152" marT="18288" marB="18288">
                    <a:solidFill>
                      <a:srgbClr val="FFFFFF"/>
                    </a:solidFill>
                  </a:tcPr>
                </a:tc>
                <a:tc>
                  <a:txBody>
                    <a:bodyPr/>
                    <a:lstStyle/>
                    <a:p>
                      <a:pPr algn="ctr"/>
                      <a:r>
                        <a:rPr sz="1200" b="0">
                          <a:solidFill>
                            <a:srgbClr val="1F2A37"/>
                          </a:solidFill>
                          <a:latin typeface="Arial"/>
                        </a:rPr>
                        <a:t>0,5622</a:t>
                      </a:r>
                    </a:p>
                  </a:txBody>
                  <a:tcPr anchor="ctr" marL="73152" marR="73152" marT="18288" marB="18288">
                    <a:solidFill>
                      <a:srgbClr val="FFFFFF"/>
                    </a:solidFill>
                  </a:tcPr>
                </a:tc>
              </a:tr>
              <a:tr h="420624">
                <a:tc>
                  <a:txBody>
                    <a:bodyPr/>
                    <a:lstStyle/>
                    <a:p>
                      <a:r>
                        <a:rPr sz="1200" b="0">
                          <a:solidFill>
                            <a:srgbClr val="1F2A37"/>
                          </a:solidFill>
                          <a:latin typeface="Arial"/>
                        </a:rPr>
                        <a:t>Gradient Boosting</a:t>
                      </a:r>
                    </a:p>
                  </a:txBody>
                  <a:tcPr anchor="ctr" marL="73152" marR="73152" marT="18288" marB="18288">
                    <a:solidFill>
                      <a:srgbClr val="ECF1F4"/>
                    </a:solidFill>
                  </a:tcPr>
                </a:tc>
                <a:tc>
                  <a:txBody>
                    <a:bodyPr/>
                    <a:lstStyle/>
                    <a:p>
                      <a:pPr algn="ctr"/>
                      <a:r>
                        <a:rPr sz="1200" b="0">
                          <a:solidFill>
                            <a:srgbClr val="1F2A37"/>
                          </a:solidFill>
                          <a:latin typeface="Arial"/>
                        </a:rPr>
                        <a:t>0,4734</a:t>
                      </a:r>
                    </a:p>
                  </a:txBody>
                  <a:tcPr anchor="ctr" marL="73152" marR="73152" marT="18288" marB="18288">
                    <a:solidFill>
                      <a:srgbClr val="ECF1F4"/>
                    </a:solidFill>
                  </a:tcPr>
                </a:tc>
                <a:tc>
                  <a:txBody>
                    <a:bodyPr/>
                    <a:lstStyle/>
                    <a:p>
                      <a:pPr algn="ctr"/>
                      <a:r>
                        <a:rPr sz="1200" b="0">
                          <a:solidFill>
                            <a:srgbClr val="1F2A37"/>
                          </a:solidFill>
                          <a:latin typeface="Arial"/>
                        </a:rPr>
                        <a:t>0,4009</a:t>
                      </a:r>
                    </a:p>
                  </a:txBody>
                  <a:tcPr anchor="ctr" marL="73152" marR="73152" marT="18288" marB="18288">
                    <a:solidFill>
                      <a:srgbClr val="ECF1F4"/>
                    </a:solidFill>
                  </a:tcPr>
                </a:tc>
                <a:tc>
                  <a:txBody>
                    <a:bodyPr/>
                    <a:lstStyle/>
                    <a:p>
                      <a:pPr algn="ctr"/>
                      <a:r>
                        <a:rPr sz="1200" b="0">
                          <a:solidFill>
                            <a:srgbClr val="1F2A37"/>
                          </a:solidFill>
                          <a:latin typeface="Arial"/>
                        </a:rPr>
                        <a:t>0,5778</a:t>
                      </a:r>
                    </a:p>
                  </a:txBody>
                  <a:tcPr anchor="ctr" marL="73152" marR="73152" marT="18288" marB="18288">
                    <a:solidFill>
                      <a:srgbClr val="ECF1F4"/>
                    </a:solidFill>
                  </a:tcPr>
                </a:tc>
                <a:tc>
                  <a:txBody>
                    <a:bodyPr/>
                    <a:lstStyle/>
                    <a:p>
                      <a:pPr algn="ctr"/>
                      <a:r>
                        <a:rPr sz="1200" b="0">
                          <a:solidFill>
                            <a:srgbClr val="1F2A37"/>
                          </a:solidFill>
                          <a:latin typeface="Arial"/>
                        </a:rPr>
                        <a:t>0,5735</a:t>
                      </a:r>
                    </a:p>
                  </a:txBody>
                  <a:tcPr anchor="ctr" marL="73152" marR="73152" marT="18288" marB="18288">
                    <a:solidFill>
                      <a:srgbClr val="ECF1F4"/>
                    </a:solidFill>
                  </a:tcPr>
                </a:tc>
              </a:tr>
              <a:tr h="420624">
                <a:tc>
                  <a:txBody>
                    <a:bodyPr/>
                    <a:lstStyle/>
                    <a:p>
                      <a:r>
                        <a:rPr sz="1200" b="0">
                          <a:solidFill>
                            <a:srgbClr val="1F2A37"/>
                          </a:solidFill>
                          <a:latin typeface="Arial"/>
                        </a:rPr>
                        <a:t>Always UP (baseline)</a:t>
                      </a:r>
                    </a:p>
                  </a:txBody>
                  <a:tcPr anchor="ctr" marL="73152" marR="73152" marT="18288" marB="18288">
                    <a:solidFill>
                      <a:srgbClr val="FFFFFF"/>
                    </a:solidFill>
                  </a:tcPr>
                </a:tc>
                <a:tc>
                  <a:txBody>
                    <a:bodyPr/>
                    <a:lstStyle/>
                    <a:p>
                      <a:pPr algn="ctr"/>
                      <a:r>
                        <a:rPr sz="1200" b="0">
                          <a:solidFill>
                            <a:srgbClr val="1F2A37"/>
                          </a:solidFill>
                          <a:latin typeface="Arial"/>
                        </a:rPr>
                        <a:t>0,4982</a:t>
                      </a:r>
                    </a:p>
                  </a:txBody>
                  <a:tcPr anchor="ctr" marL="73152" marR="73152" marT="18288" marB="18288">
                    <a:solidFill>
                      <a:srgbClr val="FFFFFF"/>
                    </a:solidFill>
                  </a:tcPr>
                </a:tc>
                <a:tc>
                  <a:txBody>
                    <a:bodyPr/>
                    <a:lstStyle/>
                    <a:p>
                      <a:pPr algn="ctr"/>
                      <a:r>
                        <a:rPr sz="1200" b="0">
                          <a:solidFill>
                            <a:srgbClr val="1F2A37"/>
                          </a:solidFill>
                          <a:latin typeface="Arial"/>
                        </a:rPr>
                        <a:t>0,3318</a:t>
                      </a:r>
                    </a:p>
                  </a:txBody>
                  <a:tcPr anchor="ctr" marL="73152" marR="73152" marT="18288" marB="18288">
                    <a:solidFill>
                      <a:srgbClr val="FFFFFF"/>
                    </a:solidFill>
                  </a:tcPr>
                </a:tc>
                <a:tc>
                  <a:txBody>
                    <a:bodyPr/>
                    <a:lstStyle/>
                    <a:p>
                      <a:pPr algn="ctr"/>
                      <a:r>
                        <a:rPr sz="1200" b="0">
                          <a:solidFill>
                            <a:srgbClr val="1F2A37"/>
                          </a:solidFill>
                          <a:latin typeface="Arial"/>
                        </a:rPr>
                        <a:t>1,0000</a:t>
                      </a:r>
                    </a:p>
                  </a:txBody>
                  <a:tcPr anchor="ctr" marL="73152" marR="73152" marT="18288" marB="18288">
                    <a:solidFill>
                      <a:srgbClr val="FFFFFF"/>
                    </a:solidFill>
                  </a:tcPr>
                </a:tc>
                <a:tc>
                  <a:txBody>
                    <a:bodyPr/>
                    <a:lstStyle/>
                    <a:p>
                      <a:pPr algn="ctr"/>
                      <a:r>
                        <a:rPr sz="1200" b="0">
                          <a:solidFill>
                            <a:srgbClr val="1F2A37"/>
                          </a:solidFill>
                          <a:latin typeface="Arial"/>
                        </a:rPr>
                        <a:t>0,3318</a:t>
                      </a:r>
                    </a:p>
                  </a:txBody>
                  <a:tcPr anchor="ctr" marL="73152" marR="73152" marT="18288" marB="18288">
                    <a:solidFill>
                      <a:srgbClr val="FFFFFF"/>
                    </a:solidFill>
                  </a:tcPr>
                </a:tc>
              </a:tr>
            </a:tbl>
          </a:graphicData>
        </a:graphic>
      </p:graphicFrame>
      <p:sp>
        <p:nvSpPr>
          <p:cNvPr id="5" name="TextBox 4"/>
          <p:cNvSpPr txBox="1"/>
          <p:nvPr/>
        </p:nvSpPr>
        <p:spPr>
          <a:xfrm>
            <a:off x="548640" y="3886200"/>
            <a:ext cx="6035040" cy="2011680"/>
          </a:xfrm>
          <a:prstGeom prst="rect">
            <a:avLst/>
          </a:prstGeom>
          <a:noFill/>
        </p:spPr>
        <p:txBody>
          <a:bodyPr wrap="square">
            <a:spAutoFit/>
          </a:bodyPr>
          <a:lstStyle/>
          <a:p>
            <a:pPr>
              <a:spcAft>
                <a:spcPts val="1000"/>
              </a:spcAft>
            </a:pPr>
            <a:r>
              <a:rPr sz="1500">
                <a:solidFill>
                  <a:srgbClr val="1F2A37"/>
                </a:solidFill>
                <a:latin typeface="Arial"/>
              </a:rPr>
              <a:t>– Tiêu chí 1: F1_UP cao nhất trên VALIDATION</a:t>
            </a:r>
          </a:p>
          <a:p>
            <a:pPr>
              <a:spcAft>
                <a:spcPts val="1000"/>
              </a:spcAft>
            </a:pPr>
            <a:r>
              <a:rPr sz="1500">
                <a:solidFill>
                  <a:srgbClr val="1F2A37"/>
                </a:solidFill>
                <a:latin typeface="Arial"/>
              </a:rPr>
              <a:t>– Tiêu chí 2: Recall_UP cao hơn khi bằng điểm</a:t>
            </a:r>
          </a:p>
          <a:p>
            <a:pPr>
              <a:spcAft>
                <a:spcPts val="1000"/>
              </a:spcAft>
            </a:pPr>
            <a:r>
              <a:rPr sz="1500">
                <a:solidFill>
                  <a:srgbClr val="1F2A37"/>
                </a:solidFill>
                <a:latin typeface="Arial"/>
              </a:rPr>
              <a:t>– Tiêu chí 3: chọn model đơn giản hơn</a:t>
            </a:r>
          </a:p>
          <a:p>
            <a:pPr>
              <a:spcAft>
                <a:spcPts val="1000"/>
              </a:spcAft>
            </a:pPr>
            <a:r>
              <a:rPr sz="1500">
                <a:solidFill>
                  <a:srgbClr val="1F2A37"/>
                </a:solidFill>
                <a:latin typeface="Arial"/>
              </a:rPr>
              <a:t>– Baseline always-UP vẫn cao hơn cả ba model</a:t>
            </a:r>
          </a:p>
        </p:txBody>
      </p:sp>
      <p:pic>
        <p:nvPicPr>
          <p:cNvPr id="6" name="Picture 5" descr="validation_f1_up.png"/>
          <p:cNvPicPr>
            <a:picLocks noChangeAspect="1"/>
          </p:cNvPicPr>
          <p:nvPr/>
        </p:nvPicPr>
        <p:blipFill>
          <a:blip r:embed="rId2"/>
          <a:stretch>
            <a:fillRect/>
          </a:stretch>
        </p:blipFill>
        <p:spPr>
          <a:xfrm>
            <a:off x="6766560" y="2523355"/>
            <a:ext cx="4846320" cy="2268490"/>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reports/model_comparison.csv, models/model_metadata.json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Trên TEST, F1_UP 0,3754 vẫn dưới baseline always-UP 0,3839</a:t>
            </a:r>
          </a:p>
          <a:p>
            <a:r>
              <a:rPr sz="1400">
                <a:solidFill>
                  <a:srgbClr val="5B6672"/>
                </a:solidFill>
                <a:latin typeface="Arial"/>
              </a:rPr>
              <a:t>Chương 3.3.2 - Đánh giá TEST một lần</a:t>
            </a:r>
          </a:p>
        </p:txBody>
      </p:sp>
      <p:graphicFrame>
        <p:nvGraphicFramePr>
          <p:cNvPr id="4" name="Table 3"/>
          <p:cNvGraphicFramePr>
            <a:graphicFrameLocks noGrp="1"/>
          </p:cNvGraphicFramePr>
          <p:nvPr/>
        </p:nvGraphicFramePr>
        <p:xfrm>
          <a:off x="548640" y="1600200"/>
          <a:ext cx="6126478" cy="1828800"/>
        </p:xfrm>
        <a:graphic>
          <a:graphicData uri="http://schemas.openxmlformats.org/drawingml/2006/table">
            <a:tbl>
              <a:tblPr firstRow="1" bandRow="1">
                <a:tableStyleId>{5C22544A-7EE6-4342-B048-85BDC9FD1C3A}</a:tableStyleId>
              </a:tblPr>
              <a:tblGrid>
                <a:gridCol w="1670858"/>
                <a:gridCol w="1113905"/>
                <a:gridCol w="1113905"/>
                <a:gridCol w="1113905"/>
                <a:gridCol w="1113905"/>
              </a:tblGrid>
              <a:tr h="457200">
                <a:tc>
                  <a:txBody>
                    <a:bodyPr/>
                    <a:lstStyle/>
                    <a:p>
                      <a:r>
                        <a:rPr sz="1200" b="1">
                          <a:solidFill>
                            <a:srgbClr val="FFFFFF"/>
                          </a:solidFill>
                          <a:latin typeface="Arial"/>
                        </a:rPr>
                        <a:t>Trên TEST (20.350 dòng)</a:t>
                      </a:r>
                    </a:p>
                  </a:txBody>
                  <a:tcPr anchor="ctr" marL="73152" marR="73152" marT="18288" marB="18288">
                    <a:solidFill>
                      <a:srgbClr val="10243B"/>
                    </a:solidFill>
                  </a:tcPr>
                </a:tc>
                <a:tc>
                  <a:txBody>
                    <a:bodyPr/>
                    <a:lstStyle/>
                    <a:p>
                      <a:pPr algn="ctr"/>
                      <a:r>
                        <a:rPr sz="1200" b="1">
                          <a:solidFill>
                            <a:srgbClr val="FFFFFF"/>
                          </a:solidFill>
                          <a:latin typeface="Arial"/>
                        </a:rPr>
                        <a:t>F1_UP</a:t>
                      </a:r>
                    </a:p>
                  </a:txBody>
                  <a:tcPr anchor="ctr" marL="73152" marR="73152" marT="18288" marB="18288">
                    <a:solidFill>
                      <a:srgbClr val="10243B"/>
                    </a:solidFill>
                  </a:tcPr>
                </a:tc>
                <a:tc>
                  <a:txBody>
                    <a:bodyPr/>
                    <a:lstStyle/>
                    <a:p>
                      <a:pPr algn="ctr"/>
                      <a:r>
                        <a:rPr sz="1200" b="1">
                          <a:solidFill>
                            <a:srgbClr val="FFFFFF"/>
                          </a:solidFill>
                          <a:latin typeface="Arial"/>
                        </a:rPr>
                        <a:t>Precision_UP</a:t>
                      </a:r>
                    </a:p>
                  </a:txBody>
                  <a:tcPr anchor="ctr" marL="73152" marR="73152" marT="18288" marB="18288">
                    <a:solidFill>
                      <a:srgbClr val="10243B"/>
                    </a:solidFill>
                  </a:tcPr>
                </a:tc>
                <a:tc>
                  <a:txBody>
                    <a:bodyPr/>
                    <a:lstStyle/>
                    <a:p>
                      <a:pPr algn="ctr"/>
                      <a:r>
                        <a:rPr sz="1200" b="1">
                          <a:solidFill>
                            <a:srgbClr val="FFFFFF"/>
                          </a:solidFill>
                          <a:latin typeface="Arial"/>
                        </a:rPr>
                        <a:t>Recall_UP</a:t>
                      </a:r>
                    </a:p>
                  </a:txBody>
                  <a:tcPr anchor="ctr" marL="73152" marR="73152" marT="18288" marB="18288">
                    <a:solidFill>
                      <a:srgbClr val="10243B"/>
                    </a:solidFill>
                  </a:tcPr>
                </a:tc>
                <a:tc>
                  <a:txBody>
                    <a:bodyPr/>
                    <a:lstStyle/>
                    <a:p>
                      <a:pPr algn="ctr"/>
                      <a:r>
                        <a:rPr sz="1200" b="1">
                          <a:solidFill>
                            <a:srgbClr val="FFFFFF"/>
                          </a:solidFill>
                          <a:latin typeface="Arial"/>
                        </a:rPr>
                        <a:t>Accuracy</a:t>
                      </a:r>
                    </a:p>
                  </a:txBody>
                  <a:tcPr anchor="ctr" marL="73152" marR="73152" marT="18288" marB="18288">
                    <a:solidFill>
                      <a:srgbClr val="10243B"/>
                    </a:solidFill>
                  </a:tcPr>
                </a:tc>
              </a:tr>
              <a:tr h="457200">
                <a:tc>
                  <a:txBody>
                    <a:bodyPr/>
                    <a:lstStyle/>
                    <a:p>
                      <a:r>
                        <a:rPr sz="1200" b="0">
                          <a:solidFill>
                            <a:srgbClr val="1F2A37"/>
                          </a:solidFill>
                          <a:latin typeface="Arial"/>
                        </a:rPr>
                        <a:t>Random Forest (final)</a:t>
                      </a:r>
                    </a:p>
                  </a:txBody>
                  <a:tcPr anchor="ctr" marL="73152" marR="73152" marT="18288" marB="18288">
                    <a:solidFill>
                      <a:srgbClr val="ECF1F4"/>
                    </a:solidFill>
                  </a:tcPr>
                </a:tc>
                <a:tc>
                  <a:txBody>
                    <a:bodyPr/>
                    <a:lstStyle/>
                    <a:p>
                      <a:pPr algn="ctr"/>
                      <a:r>
                        <a:rPr sz="1200" b="0">
                          <a:solidFill>
                            <a:srgbClr val="1F2A37"/>
                          </a:solidFill>
                          <a:latin typeface="Arial"/>
                        </a:rPr>
                        <a:t>0,3754</a:t>
                      </a:r>
                    </a:p>
                  </a:txBody>
                  <a:tcPr anchor="ctr" marL="73152" marR="73152" marT="18288" marB="18288">
                    <a:solidFill>
                      <a:srgbClr val="ECF1F4"/>
                    </a:solidFill>
                  </a:tcPr>
                </a:tc>
                <a:tc>
                  <a:txBody>
                    <a:bodyPr/>
                    <a:lstStyle/>
                    <a:p>
                      <a:pPr algn="ctr"/>
                      <a:r>
                        <a:rPr sz="1200" b="0">
                          <a:solidFill>
                            <a:srgbClr val="1F2A37"/>
                          </a:solidFill>
                          <a:latin typeface="Arial"/>
                        </a:rPr>
                        <a:t>0,2890</a:t>
                      </a:r>
                    </a:p>
                  </a:txBody>
                  <a:tcPr anchor="ctr" marL="73152" marR="73152" marT="18288" marB="18288">
                    <a:solidFill>
                      <a:srgbClr val="ECF1F4"/>
                    </a:solidFill>
                  </a:tcPr>
                </a:tc>
                <a:tc>
                  <a:txBody>
                    <a:bodyPr/>
                    <a:lstStyle/>
                    <a:p>
                      <a:pPr algn="ctr"/>
                      <a:r>
                        <a:rPr sz="1200" b="0">
                          <a:solidFill>
                            <a:srgbClr val="1F2A37"/>
                          </a:solidFill>
                          <a:latin typeface="Arial"/>
                        </a:rPr>
                        <a:t>0,5356</a:t>
                      </a:r>
                    </a:p>
                  </a:txBody>
                  <a:tcPr anchor="ctr" marL="73152" marR="73152" marT="18288" marB="18288">
                    <a:solidFill>
                      <a:srgbClr val="ECF1F4"/>
                    </a:solidFill>
                  </a:tcPr>
                </a:tc>
                <a:tc>
                  <a:txBody>
                    <a:bodyPr/>
                    <a:lstStyle/>
                    <a:p>
                      <a:pPr algn="ctr"/>
                      <a:r>
                        <a:rPr sz="1200" b="0">
                          <a:solidFill>
                            <a:srgbClr val="1F2A37"/>
                          </a:solidFill>
                          <a:latin typeface="Arial"/>
                        </a:rPr>
                        <a:t>0,5766</a:t>
                      </a:r>
                    </a:p>
                  </a:txBody>
                  <a:tcPr anchor="ctr" marL="73152" marR="73152" marT="18288" marB="18288">
                    <a:solidFill>
                      <a:srgbClr val="ECF1F4"/>
                    </a:solidFill>
                  </a:tcPr>
                </a:tc>
              </a:tr>
              <a:tr h="457200">
                <a:tc>
                  <a:txBody>
                    <a:bodyPr/>
                    <a:lstStyle/>
                    <a:p>
                      <a:r>
                        <a:rPr sz="1200" b="0">
                          <a:solidFill>
                            <a:srgbClr val="1F2A37"/>
                          </a:solidFill>
                          <a:latin typeface="Arial"/>
                        </a:rPr>
                        <a:t>Always UP</a:t>
                      </a:r>
                    </a:p>
                  </a:txBody>
                  <a:tcPr anchor="ctr" marL="73152" marR="73152" marT="18288" marB="18288">
                    <a:solidFill>
                      <a:srgbClr val="FFFFFF"/>
                    </a:solidFill>
                  </a:tcPr>
                </a:tc>
                <a:tc>
                  <a:txBody>
                    <a:bodyPr/>
                    <a:lstStyle/>
                    <a:p>
                      <a:pPr algn="ctr"/>
                      <a:r>
                        <a:rPr sz="1200" b="0">
                          <a:solidFill>
                            <a:srgbClr val="1F2A37"/>
                          </a:solidFill>
                          <a:latin typeface="Arial"/>
                        </a:rPr>
                        <a:t>0,3839</a:t>
                      </a:r>
                    </a:p>
                  </a:txBody>
                  <a:tcPr anchor="ctr" marL="73152" marR="73152" marT="18288" marB="18288">
                    <a:solidFill>
                      <a:srgbClr val="FFFFFF"/>
                    </a:solidFill>
                  </a:tcPr>
                </a:tc>
                <a:tc>
                  <a:txBody>
                    <a:bodyPr/>
                    <a:lstStyle/>
                    <a:p>
                      <a:pPr algn="ctr"/>
                      <a:r>
                        <a:rPr sz="1200" b="0">
                          <a:solidFill>
                            <a:srgbClr val="1F2A37"/>
                          </a:solidFill>
                          <a:latin typeface="Arial"/>
                        </a:rPr>
                        <a:t>0,2375</a:t>
                      </a:r>
                    </a:p>
                  </a:txBody>
                  <a:tcPr anchor="ctr" marL="73152" marR="73152" marT="18288" marB="18288">
                    <a:solidFill>
                      <a:srgbClr val="FFFFFF"/>
                    </a:solidFill>
                  </a:tcPr>
                </a:tc>
                <a:tc>
                  <a:txBody>
                    <a:bodyPr/>
                    <a:lstStyle/>
                    <a:p>
                      <a:pPr algn="ctr"/>
                      <a:r>
                        <a:rPr sz="1200" b="0">
                          <a:solidFill>
                            <a:srgbClr val="1F2A37"/>
                          </a:solidFill>
                          <a:latin typeface="Arial"/>
                        </a:rPr>
                        <a:t>1,0000</a:t>
                      </a:r>
                    </a:p>
                  </a:txBody>
                  <a:tcPr anchor="ctr" marL="73152" marR="73152" marT="18288" marB="18288">
                    <a:solidFill>
                      <a:srgbClr val="FFFFFF"/>
                    </a:solidFill>
                  </a:tcPr>
                </a:tc>
                <a:tc>
                  <a:txBody>
                    <a:bodyPr/>
                    <a:lstStyle/>
                    <a:p>
                      <a:pPr algn="ctr"/>
                      <a:r>
                        <a:rPr sz="1200" b="0">
                          <a:solidFill>
                            <a:srgbClr val="1F2A37"/>
                          </a:solidFill>
                          <a:latin typeface="Arial"/>
                        </a:rPr>
                        <a:t>0,2375</a:t>
                      </a:r>
                    </a:p>
                  </a:txBody>
                  <a:tcPr anchor="ctr" marL="73152" marR="73152" marT="18288" marB="18288">
                    <a:solidFill>
                      <a:srgbClr val="FFFFFF"/>
                    </a:solidFill>
                  </a:tcPr>
                </a:tc>
              </a:tr>
              <a:tr h="457200">
                <a:tc>
                  <a:txBody>
                    <a:bodyPr/>
                    <a:lstStyle/>
                    <a:p>
                      <a:r>
                        <a:rPr sz="1200" b="0">
                          <a:solidFill>
                            <a:srgbClr val="1F2A37"/>
                          </a:solidFill>
                          <a:latin typeface="Arial"/>
                        </a:rPr>
                        <a:t>Always NOT_UP</a:t>
                      </a:r>
                    </a:p>
                  </a:txBody>
                  <a:tcPr anchor="ctr" marL="73152" marR="73152" marT="18288" marB="18288">
                    <a:solidFill>
                      <a:srgbClr val="ECF1F4"/>
                    </a:solidFill>
                  </a:tcPr>
                </a:tc>
                <a:tc>
                  <a:txBody>
                    <a:bodyPr/>
                    <a:lstStyle/>
                    <a:p>
                      <a:pPr algn="ctr"/>
                      <a:r>
                        <a:rPr sz="1200" b="0">
                          <a:solidFill>
                            <a:srgbClr val="1F2A37"/>
                          </a:solidFill>
                          <a:latin typeface="Arial"/>
                        </a:rPr>
                        <a:t>0,0000</a:t>
                      </a:r>
                    </a:p>
                  </a:txBody>
                  <a:tcPr anchor="ctr" marL="73152" marR="73152" marT="18288" marB="18288">
                    <a:solidFill>
                      <a:srgbClr val="ECF1F4"/>
                    </a:solidFill>
                  </a:tcPr>
                </a:tc>
                <a:tc>
                  <a:txBody>
                    <a:bodyPr/>
                    <a:lstStyle/>
                    <a:p>
                      <a:pPr algn="ctr"/>
                      <a:r>
                        <a:rPr sz="1200" b="0">
                          <a:solidFill>
                            <a:srgbClr val="1F2A37"/>
                          </a:solidFill>
                          <a:latin typeface="Arial"/>
                        </a:rPr>
                        <a:t>0,0000</a:t>
                      </a:r>
                    </a:p>
                  </a:txBody>
                  <a:tcPr anchor="ctr" marL="73152" marR="73152" marT="18288" marB="18288">
                    <a:solidFill>
                      <a:srgbClr val="ECF1F4"/>
                    </a:solidFill>
                  </a:tcPr>
                </a:tc>
                <a:tc>
                  <a:txBody>
                    <a:bodyPr/>
                    <a:lstStyle/>
                    <a:p>
                      <a:pPr algn="ctr"/>
                      <a:r>
                        <a:rPr sz="1200" b="0">
                          <a:solidFill>
                            <a:srgbClr val="1F2A37"/>
                          </a:solidFill>
                          <a:latin typeface="Arial"/>
                        </a:rPr>
                        <a:t>0,0000</a:t>
                      </a:r>
                    </a:p>
                  </a:txBody>
                  <a:tcPr anchor="ctr" marL="73152" marR="73152" marT="18288" marB="18288">
                    <a:solidFill>
                      <a:srgbClr val="ECF1F4"/>
                    </a:solidFill>
                  </a:tcPr>
                </a:tc>
                <a:tc>
                  <a:txBody>
                    <a:bodyPr/>
                    <a:lstStyle/>
                    <a:p>
                      <a:pPr algn="ctr"/>
                      <a:r>
                        <a:rPr sz="1200" b="0">
                          <a:solidFill>
                            <a:srgbClr val="1F2A37"/>
                          </a:solidFill>
                          <a:latin typeface="Arial"/>
                        </a:rPr>
                        <a:t>0,7625</a:t>
                      </a:r>
                    </a:p>
                  </a:txBody>
                  <a:tcPr anchor="ctr" marL="73152" marR="73152" marT="18288" marB="18288">
                    <a:solidFill>
                      <a:srgbClr val="ECF1F4"/>
                    </a:solidFill>
                  </a:tcPr>
                </a:tc>
              </a:tr>
            </a:tbl>
          </a:graphicData>
        </a:graphic>
      </p:graphicFrame>
      <p:sp>
        <p:nvSpPr>
          <p:cNvPr id="5" name="TextBox 4"/>
          <p:cNvSpPr txBox="1"/>
          <p:nvPr/>
        </p:nvSpPr>
        <p:spPr>
          <a:xfrm>
            <a:off x="548640" y="3657600"/>
            <a:ext cx="6126480" cy="2194560"/>
          </a:xfrm>
          <a:prstGeom prst="rect">
            <a:avLst/>
          </a:prstGeom>
          <a:noFill/>
        </p:spPr>
        <p:txBody>
          <a:bodyPr wrap="square">
            <a:spAutoFit/>
          </a:bodyPr>
          <a:lstStyle/>
          <a:p>
            <a:pPr>
              <a:spcAft>
                <a:spcPts val="1100"/>
              </a:spcAft>
            </a:pPr>
            <a:r>
              <a:rPr sz="1500">
                <a:solidFill>
                  <a:srgbClr val="1F2A37"/>
                </a:solidFill>
                <a:latin typeface="Arial"/>
              </a:rPr>
              <a:t>– Mục tiêu vượt baseline: không đạt</a:t>
            </a:r>
          </a:p>
          <a:p>
            <a:pPr>
              <a:spcAft>
                <a:spcPts val="1100"/>
              </a:spcAft>
            </a:pPr>
            <a:r>
              <a:rPr sz="1500">
                <a:solidFill>
                  <a:srgbClr val="1F2A37"/>
                </a:solidFill>
                <a:latin typeface="Arial"/>
              </a:rPr>
              <a:t>– Hệ thống ghi baseline_passed = false</a:t>
            </a:r>
          </a:p>
          <a:p>
            <a:pPr>
              <a:spcAft>
                <a:spcPts val="1100"/>
              </a:spcAft>
            </a:pPr>
            <a:r>
              <a:rPr sz="1500">
                <a:solidFill>
                  <a:srgbClr val="1F2A37"/>
                </a:solidFill>
                <a:latin typeface="Arial"/>
              </a:rPr>
              <a:t>– Web hiển thị cảnh báo, không che kết quả</a:t>
            </a:r>
          </a:p>
          <a:p>
            <a:pPr>
              <a:spcAft>
                <a:spcPts val="1100"/>
              </a:spcAft>
            </a:pPr>
            <a:r>
              <a:rPr sz="1500">
                <a:solidFill>
                  <a:srgbClr val="1F2A37"/>
                </a:solidFill>
                <a:latin typeface="Arial"/>
              </a:rPr>
              <a:t>– Chỉ dùng cho học tập, không khuyến nghị đầu tư</a:t>
            </a:r>
          </a:p>
        </p:txBody>
      </p:sp>
      <p:pic>
        <p:nvPicPr>
          <p:cNvPr id="6" name="Picture 5" descr="test_vs_baseline.png"/>
          <p:cNvPicPr>
            <a:picLocks noChangeAspect="1"/>
          </p:cNvPicPr>
          <p:nvPr/>
        </p:nvPicPr>
        <p:blipFill>
          <a:blip r:embed="rId2"/>
          <a:stretch>
            <a:fillRect/>
          </a:stretch>
        </p:blipFill>
        <p:spPr>
          <a:xfrm>
            <a:off x="6858000" y="2544756"/>
            <a:ext cx="4754880" cy="2225688"/>
          </a:xfrm>
          <a:prstGeom prst="rect">
            <a:avLst/>
          </a:prstGeom>
        </p:spPr>
      </p:pic>
      <p:sp>
        <p:nvSpPr>
          <p:cNvPr id="7" name="TextBox 6"/>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reports/final_model_evaluation.csv, models/model_metadata.json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Model bắt được 2.589 phiên UP nhưng báo động sai 6.371 lần</a:t>
            </a:r>
          </a:p>
          <a:p>
            <a:r>
              <a:rPr sz="1400">
                <a:solidFill>
                  <a:srgbClr val="5B6672"/>
                </a:solidFill>
                <a:latin typeface="Arial"/>
              </a:rPr>
              <a:t>Chương 3.3.2 - Phân tích lỗi</a:t>
            </a:r>
          </a:p>
        </p:txBody>
      </p:sp>
      <p:pic>
        <p:nvPicPr>
          <p:cNvPr id="4" name="Picture 3" descr="confusion_matrix_test.png"/>
          <p:cNvPicPr>
            <a:picLocks noChangeAspect="1"/>
          </p:cNvPicPr>
          <p:nvPr/>
        </p:nvPicPr>
        <p:blipFill>
          <a:blip r:embed="rId2"/>
          <a:stretch>
            <a:fillRect/>
          </a:stretch>
        </p:blipFill>
        <p:spPr>
          <a:xfrm>
            <a:off x="911515" y="1554480"/>
            <a:ext cx="5309290" cy="4206240"/>
          </a:xfrm>
          <a:prstGeom prst="rect">
            <a:avLst/>
          </a:prstGeom>
        </p:spPr>
      </p:pic>
      <p:sp>
        <p:nvSpPr>
          <p:cNvPr id="5" name="TextBox 4"/>
          <p:cNvSpPr txBox="1"/>
          <p:nvPr/>
        </p:nvSpPr>
        <p:spPr>
          <a:xfrm>
            <a:off x="6675120" y="1737360"/>
            <a:ext cx="4937760" cy="3931920"/>
          </a:xfrm>
          <a:prstGeom prst="rect">
            <a:avLst/>
          </a:prstGeom>
          <a:noFill/>
        </p:spPr>
        <p:txBody>
          <a:bodyPr wrap="square">
            <a:spAutoFit/>
          </a:bodyPr>
          <a:lstStyle/>
          <a:p>
            <a:pPr>
              <a:spcAft>
                <a:spcPts val="1200"/>
              </a:spcAft>
            </a:pPr>
            <a:r>
              <a:rPr sz="1500">
                <a:solidFill>
                  <a:srgbClr val="1F2A37"/>
                </a:solidFill>
                <a:latin typeface="Arial"/>
              </a:rPr>
              <a:t>– Recall_UP 0,536: bắt được hơn nửa phiên tăng</a:t>
            </a:r>
          </a:p>
          <a:p>
            <a:pPr>
              <a:spcAft>
                <a:spcPts val="1200"/>
              </a:spcAft>
            </a:pPr>
            <a:r>
              <a:rPr sz="1500">
                <a:solidFill>
                  <a:srgbClr val="1F2A37"/>
                </a:solidFill>
                <a:latin typeface="Arial"/>
              </a:rPr>
              <a:t>– Precision_UP 0,289: cứ 10 tín hiệu, 3 đúng</a:t>
            </a:r>
          </a:p>
          <a:p>
            <a:pPr>
              <a:spcAft>
                <a:spcPts val="1200"/>
              </a:spcAft>
            </a:pPr>
            <a:r>
              <a:rPr sz="1500">
                <a:solidFill>
                  <a:srgbClr val="1F2A37"/>
                </a:solidFill>
                <a:latin typeface="Arial"/>
              </a:rPr>
              <a:t>– Ngưỡng 0,49 ưu tiên recall hơn precision</a:t>
            </a:r>
          </a:p>
          <a:p>
            <a:pPr>
              <a:spcAft>
                <a:spcPts val="1200"/>
              </a:spcAft>
            </a:pPr>
            <a:r>
              <a:rPr sz="1500">
                <a:solidFill>
                  <a:srgbClr val="1F2A37"/>
                </a:solidFill>
                <a:latin typeface="Arial"/>
              </a:rPr>
              <a:t>– Tỷ lệ UP trên TEST chỉ 23,8%, thấp hơn TRAIN</a:t>
            </a:r>
          </a:p>
          <a:p>
            <a:pPr>
              <a:spcAft>
                <a:spcPts val="1200"/>
              </a:spcAft>
            </a:pPr>
            <a:r>
              <a:rPr sz="1500">
                <a:solidFill>
                  <a:srgbClr val="1F2A37"/>
                </a:solidFill>
                <a:latin typeface="Arial"/>
              </a:rPr>
              <a:t>– Phân phối lớp lệch khiến precision giảm mạnh</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reports/confusion_matrix.csv, reports/classification_report.csv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Biến động 20 phiên là feature quan trọng nhất, chiếm 19,7%</a:t>
            </a:r>
          </a:p>
          <a:p>
            <a:r>
              <a:rPr sz="1400">
                <a:solidFill>
                  <a:srgbClr val="5B6672"/>
                </a:solidFill>
                <a:latin typeface="Arial"/>
              </a:rPr>
              <a:t>Chương 3.3.2 - Diễn giải mô hình</a:t>
            </a:r>
          </a:p>
        </p:txBody>
      </p:sp>
      <p:pic>
        <p:nvPicPr>
          <p:cNvPr id="4" name="Picture 3" descr="feature_importance_top8.png"/>
          <p:cNvPicPr>
            <a:picLocks noChangeAspect="1"/>
          </p:cNvPicPr>
          <p:nvPr/>
        </p:nvPicPr>
        <p:blipFill>
          <a:blip r:embed="rId2"/>
          <a:stretch>
            <a:fillRect/>
          </a:stretch>
        </p:blipFill>
        <p:spPr>
          <a:xfrm>
            <a:off x="640080" y="2057400"/>
            <a:ext cx="6400800" cy="3200400"/>
          </a:xfrm>
          <a:prstGeom prst="rect">
            <a:avLst/>
          </a:prstGeom>
        </p:spPr>
      </p:pic>
      <p:sp>
        <p:nvSpPr>
          <p:cNvPr id="5" name="TextBox 4"/>
          <p:cNvSpPr txBox="1"/>
          <p:nvPr/>
        </p:nvSpPr>
        <p:spPr>
          <a:xfrm>
            <a:off x="7315200" y="1737360"/>
            <a:ext cx="4297680" cy="3931920"/>
          </a:xfrm>
          <a:prstGeom prst="rect">
            <a:avLst/>
          </a:prstGeom>
          <a:noFill/>
        </p:spPr>
        <p:txBody>
          <a:bodyPr wrap="square">
            <a:spAutoFit/>
          </a:bodyPr>
          <a:lstStyle/>
          <a:p>
            <a:pPr>
              <a:spcAft>
                <a:spcPts val="1200"/>
              </a:spcAft>
            </a:pPr>
            <a:r>
              <a:rPr sz="1500">
                <a:solidFill>
                  <a:srgbClr val="1F2A37"/>
                </a:solidFill>
                <a:latin typeface="Arial"/>
              </a:rPr>
              <a:t>– Biến động lấn át tín hiệu xu hướng</a:t>
            </a:r>
          </a:p>
          <a:p>
            <a:pPr>
              <a:spcAft>
                <a:spcPts val="1200"/>
              </a:spcAft>
            </a:pPr>
            <a:r>
              <a:rPr sz="1500">
                <a:solidFill>
                  <a:srgbClr val="1F2A37"/>
                </a:solidFill>
                <a:latin typeface="Arial"/>
              </a:rPr>
              <a:t>– month có importance cao, cần soi kỹ</a:t>
            </a:r>
          </a:p>
          <a:p>
            <a:pPr>
              <a:spcAft>
                <a:spcPts val="1200"/>
              </a:spcAft>
            </a:pPr>
            <a:r>
              <a:rPr sz="1500">
                <a:solidFill>
                  <a:srgbClr val="1F2A37"/>
                </a:solidFill>
                <a:latin typeface="Arial"/>
              </a:rPr>
              <a:t>– Return dài hạn hơn return 1 phiên</a:t>
            </a:r>
          </a:p>
          <a:p>
            <a:pPr>
              <a:spcAft>
                <a:spcPts val="1200"/>
              </a:spcAft>
            </a:pPr>
            <a:r>
              <a:rPr sz="1500">
                <a:solidFill>
                  <a:srgbClr val="1F2A37"/>
                </a:solidFill>
                <a:latin typeface="Arial"/>
              </a:rPr>
              <a:t>– SMA thô gần như không đóng góp</a:t>
            </a:r>
          </a:p>
          <a:p>
            <a:pPr>
              <a:spcAft>
                <a:spcPts val="1200"/>
              </a:spcAft>
            </a:pPr>
            <a:r>
              <a:rPr sz="1500">
                <a:solidFill>
                  <a:srgbClr val="1F2A37"/>
                </a:solidFill>
                <a:latin typeface="Arial"/>
              </a:rPr>
              <a:t>– Đúng kỳ vọng: giá ngày khó dự báo hướng</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reports/feature_importance.csv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Sản phẩm: sáu trang web đọc lại đúng artifact đã publish</a:t>
            </a:r>
          </a:p>
          <a:p>
            <a:r>
              <a:rPr sz="1400">
                <a:solidFill>
                  <a:srgbClr val="5B6672"/>
                </a:solidFill>
                <a:latin typeface="Arial"/>
              </a:rPr>
              <a:t>Chương 3 - Chức năng hệ thống</a:t>
            </a:r>
          </a:p>
        </p:txBody>
      </p:sp>
      <p:sp>
        <p:nvSpPr>
          <p:cNvPr id="4" name="TextBox 3"/>
          <p:cNvSpPr txBox="1"/>
          <p:nvPr/>
        </p:nvSpPr>
        <p:spPr>
          <a:xfrm>
            <a:off x="640080" y="1600200"/>
            <a:ext cx="5120640" cy="4023360"/>
          </a:xfrm>
          <a:prstGeom prst="rect">
            <a:avLst/>
          </a:prstGeom>
          <a:noFill/>
        </p:spPr>
        <p:txBody>
          <a:bodyPr wrap="square">
            <a:spAutoFit/>
          </a:bodyPr>
          <a:lstStyle/>
          <a:p>
            <a:pPr>
              <a:spcAft>
                <a:spcPts val="1300"/>
              </a:spcAft>
            </a:pPr>
            <a:r>
              <a:rPr sz="1600">
                <a:solidFill>
                  <a:srgbClr val="1F2A37"/>
                </a:solidFill>
                <a:latin typeface="Arial"/>
              </a:rPr>
              <a:t>– Web và CLI dùng chung một model artifact</a:t>
            </a:r>
          </a:p>
          <a:p>
            <a:pPr>
              <a:spcAft>
                <a:spcPts val="1300"/>
              </a:spcAft>
            </a:pPr>
            <a:r>
              <a:rPr sz="1600">
                <a:solidFill>
                  <a:srgbClr val="1F2A37"/>
                </a:solidFill>
                <a:latin typeface="Arial"/>
              </a:rPr>
              <a:t>– Trang dự báo chỉ đọc, không train lại</a:t>
            </a:r>
          </a:p>
          <a:p>
            <a:pPr>
              <a:spcAft>
                <a:spcPts val="1300"/>
              </a:spcAft>
            </a:pPr>
            <a:r>
              <a:rPr sz="1600">
                <a:solidFill>
                  <a:srgbClr val="1F2A37"/>
                </a:solidFill>
                <a:latin typeface="Arial"/>
              </a:rPr>
              <a:t>– Kết quả trên web khớp số trong báo cáo</a:t>
            </a:r>
          </a:p>
          <a:p>
            <a:pPr>
              <a:spcAft>
                <a:spcPts val="1300"/>
              </a:spcAft>
            </a:pPr>
            <a:r>
              <a:rPr sz="1600">
                <a:solidFill>
                  <a:srgbClr val="1F2A37"/>
                </a:solidFill>
                <a:latin typeface="Arial"/>
              </a:rPr>
              <a:t>– Trang đánh giá tách CV, VALIDATION, TEST</a:t>
            </a:r>
          </a:p>
          <a:p>
            <a:pPr>
              <a:spcAft>
                <a:spcPts val="1300"/>
              </a:spcAft>
            </a:pPr>
            <a:r>
              <a:rPr sz="1600">
                <a:solidFill>
                  <a:srgbClr val="1F2A37"/>
                </a:solidFill>
                <a:latin typeface="Arial"/>
              </a:rPr>
              <a:t>– Cảnh báo baseline hiện ngay trên giao diện</a:t>
            </a:r>
          </a:p>
        </p:txBody>
      </p:sp>
      <p:graphicFrame>
        <p:nvGraphicFramePr>
          <p:cNvPr id="5" name="Table 4"/>
          <p:cNvGraphicFramePr>
            <a:graphicFrameLocks noGrp="1"/>
          </p:cNvGraphicFramePr>
          <p:nvPr/>
        </p:nvGraphicFramePr>
        <p:xfrm>
          <a:off x="6035040" y="1737360"/>
          <a:ext cx="5486399" cy="3291840"/>
        </p:xfrm>
        <a:graphic>
          <a:graphicData uri="http://schemas.openxmlformats.org/drawingml/2006/table">
            <a:tbl>
              <a:tblPr firstRow="1" bandRow="1">
                <a:tableStyleId>{5C22544A-7EE6-4342-B048-85BDC9FD1C3A}</a:tableStyleId>
              </a:tblPr>
              <a:tblGrid>
                <a:gridCol w="1737360"/>
                <a:gridCol w="3749039"/>
              </a:tblGrid>
              <a:tr h="470262">
                <a:tc>
                  <a:txBody>
                    <a:bodyPr/>
                    <a:lstStyle/>
                    <a:p>
                      <a:r>
                        <a:rPr sz="1300" b="1">
                          <a:solidFill>
                            <a:srgbClr val="FFFFFF"/>
                          </a:solidFill>
                          <a:latin typeface="Arial"/>
                        </a:rPr>
                        <a:t>Trang</a:t>
                      </a:r>
                    </a:p>
                  </a:txBody>
                  <a:tcPr anchor="ctr" marL="73152" marR="73152" marT="18288" marB="18288">
                    <a:solidFill>
                      <a:srgbClr val="10243B"/>
                    </a:solidFill>
                  </a:tcPr>
                </a:tc>
                <a:tc>
                  <a:txBody>
                    <a:bodyPr/>
                    <a:lstStyle/>
                    <a:p>
                      <a:pPr algn="ctr"/>
                      <a:r>
                        <a:rPr sz="1300" b="1">
                          <a:solidFill>
                            <a:srgbClr val="FFFFFF"/>
                          </a:solidFill>
                          <a:latin typeface="Arial"/>
                        </a:rPr>
                        <a:t>Chức năng</a:t>
                      </a:r>
                    </a:p>
                  </a:txBody>
                  <a:tcPr anchor="ctr" marL="73152" marR="73152" marT="18288" marB="18288">
                    <a:solidFill>
                      <a:srgbClr val="10243B"/>
                    </a:solidFill>
                  </a:tcPr>
                </a:tc>
              </a:tr>
              <a:tr h="470262">
                <a:tc>
                  <a:txBody>
                    <a:bodyPr/>
                    <a:lstStyle/>
                    <a:p>
                      <a:r>
                        <a:rPr sz="1300" b="0">
                          <a:solidFill>
                            <a:srgbClr val="1F2A37"/>
                          </a:solidFill>
                          <a:latin typeface="Arial"/>
                        </a:rPr>
                        <a:t>/predict</a:t>
                      </a:r>
                    </a:p>
                  </a:txBody>
                  <a:tcPr anchor="ctr" marL="73152" marR="73152" marT="18288" marB="18288">
                    <a:solidFill>
                      <a:srgbClr val="ECF1F4"/>
                    </a:solidFill>
                  </a:tcPr>
                </a:tc>
                <a:tc>
                  <a:txBody>
                    <a:bodyPr/>
                    <a:lstStyle/>
                    <a:p>
                      <a:pPr algn="ctr"/>
                      <a:r>
                        <a:rPr sz="1300" b="0">
                          <a:solidFill>
                            <a:srgbClr val="1F2A37"/>
                          </a:solidFill>
                          <a:latin typeface="Arial"/>
                        </a:rPr>
                        <a:t>Dự báo UP/NOT_UP một đến hai mã</a:t>
                      </a:r>
                    </a:p>
                  </a:txBody>
                  <a:tcPr anchor="ctr" marL="73152" marR="73152" marT="18288" marB="18288">
                    <a:solidFill>
                      <a:srgbClr val="ECF1F4"/>
                    </a:solidFill>
                  </a:tcPr>
                </a:tc>
              </a:tr>
              <a:tr h="470262">
                <a:tc>
                  <a:txBody>
                    <a:bodyPr/>
                    <a:lstStyle/>
                    <a:p>
                      <a:r>
                        <a:rPr sz="1300" b="0">
                          <a:solidFill>
                            <a:srgbClr val="1F2A37"/>
                          </a:solidFill>
                          <a:latin typeface="Arial"/>
                        </a:rPr>
                        <a:t>/compare</a:t>
                      </a:r>
                    </a:p>
                  </a:txBody>
                  <a:tcPr anchor="ctr" marL="73152" marR="73152" marT="18288" marB="18288">
                    <a:solidFill>
                      <a:srgbClr val="FFFFFF"/>
                    </a:solidFill>
                  </a:tcPr>
                </a:tc>
                <a:tc>
                  <a:txBody>
                    <a:bodyPr/>
                    <a:lstStyle/>
                    <a:p>
                      <a:pPr algn="ctr"/>
                      <a:r>
                        <a:rPr sz="1300" b="0">
                          <a:solidFill>
                            <a:srgbClr val="1F2A37"/>
                          </a:solidFill>
                          <a:latin typeface="Arial"/>
                        </a:rPr>
                        <a:t>So sánh Điểm UP hai mã</a:t>
                      </a:r>
                    </a:p>
                  </a:txBody>
                  <a:tcPr anchor="ctr" marL="73152" marR="73152" marT="18288" marB="18288">
                    <a:solidFill>
                      <a:srgbClr val="FFFFFF"/>
                    </a:solidFill>
                  </a:tcPr>
                </a:tc>
              </a:tr>
              <a:tr h="470262">
                <a:tc>
                  <a:txBody>
                    <a:bodyPr/>
                    <a:lstStyle/>
                    <a:p>
                      <a:r>
                        <a:rPr sz="1300" b="0">
                          <a:solidFill>
                            <a:srgbClr val="1F2A37"/>
                          </a:solidFill>
                          <a:latin typeface="Arial"/>
                        </a:rPr>
                        <a:t>/screener</a:t>
                      </a:r>
                    </a:p>
                  </a:txBody>
                  <a:tcPr anchor="ctr" marL="73152" marR="73152" marT="18288" marB="18288">
                    <a:solidFill>
                      <a:srgbClr val="ECF1F4"/>
                    </a:solidFill>
                  </a:tcPr>
                </a:tc>
                <a:tc>
                  <a:txBody>
                    <a:bodyPr/>
                    <a:lstStyle/>
                    <a:p>
                      <a:pPr algn="ctr"/>
                      <a:r>
                        <a:rPr sz="1300" b="0">
                          <a:solidFill>
                            <a:srgbClr val="1F2A37"/>
                          </a:solidFill>
                          <a:latin typeface="Arial"/>
                        </a:rPr>
                        <a:t>Xếp hạng Điểm UP toàn sàn</a:t>
                      </a:r>
                    </a:p>
                  </a:txBody>
                  <a:tcPr anchor="ctr" marL="73152" marR="73152" marT="18288" marB="18288">
                    <a:solidFill>
                      <a:srgbClr val="ECF1F4"/>
                    </a:solidFill>
                  </a:tcPr>
                </a:tc>
              </a:tr>
              <a:tr h="470262">
                <a:tc>
                  <a:txBody>
                    <a:bodyPr/>
                    <a:lstStyle/>
                    <a:p>
                      <a:r>
                        <a:rPr sz="1300" b="0">
                          <a:solidFill>
                            <a:srgbClr val="1F2A37"/>
                          </a:solidFill>
                          <a:latin typeface="Arial"/>
                        </a:rPr>
                        <a:t>/evaluation</a:t>
                      </a:r>
                    </a:p>
                  </a:txBody>
                  <a:tcPr anchor="ctr" marL="73152" marR="73152" marT="18288" marB="18288">
                    <a:solidFill>
                      <a:srgbClr val="FFFFFF"/>
                    </a:solidFill>
                  </a:tcPr>
                </a:tc>
                <a:tc>
                  <a:txBody>
                    <a:bodyPr/>
                    <a:lstStyle/>
                    <a:p>
                      <a:pPr algn="ctr"/>
                      <a:r>
                        <a:rPr sz="1300" b="0">
                          <a:solidFill>
                            <a:srgbClr val="1F2A37"/>
                          </a:solidFill>
                          <a:latin typeface="Arial"/>
                        </a:rPr>
                        <a:t>CV, VALIDATION, TEST và baseline</a:t>
                      </a:r>
                    </a:p>
                  </a:txBody>
                  <a:tcPr anchor="ctr" marL="73152" marR="73152" marT="18288" marB="18288">
                    <a:solidFill>
                      <a:srgbClr val="FFFFFF"/>
                    </a:solidFill>
                  </a:tcPr>
                </a:tc>
              </a:tr>
              <a:tr h="470262">
                <a:tc>
                  <a:txBody>
                    <a:bodyPr/>
                    <a:lstStyle/>
                    <a:p>
                      <a:r>
                        <a:rPr sz="1300" b="0">
                          <a:solidFill>
                            <a:srgbClr val="1F2A37"/>
                          </a:solidFill>
                          <a:latin typeface="Arial"/>
                        </a:rPr>
                        <a:t>/tuning</a:t>
                      </a:r>
                    </a:p>
                  </a:txBody>
                  <a:tcPr anchor="ctr" marL="73152" marR="73152" marT="18288" marB="18288">
                    <a:solidFill>
                      <a:srgbClr val="ECF1F4"/>
                    </a:solidFill>
                  </a:tcPr>
                </a:tc>
                <a:tc>
                  <a:txBody>
                    <a:bodyPr/>
                    <a:lstStyle/>
                    <a:p>
                      <a:pPr algn="ctr"/>
                      <a:r>
                        <a:rPr sz="1300" b="0">
                          <a:solidFill>
                            <a:srgbClr val="1F2A37"/>
                          </a:solidFill>
                          <a:latin typeface="Arial"/>
                        </a:rPr>
                        <a:t>Tuning Lab, chốt cấu hình, chạy pipeline</a:t>
                      </a:r>
                    </a:p>
                  </a:txBody>
                  <a:tcPr anchor="ctr" marL="73152" marR="73152" marT="18288" marB="18288">
                    <a:solidFill>
                      <a:srgbClr val="ECF1F4"/>
                    </a:solidFill>
                  </a:tcPr>
                </a:tc>
              </a:tr>
              <a:tr h="470268">
                <a:tc>
                  <a:txBody>
                    <a:bodyPr/>
                    <a:lstStyle/>
                    <a:p>
                      <a:r>
                        <a:rPr sz="1300" b="0">
                          <a:solidFill>
                            <a:srgbClr val="1F2A37"/>
                          </a:solidFill>
                          <a:latin typeface="Arial"/>
                        </a:rPr>
                        <a:t>/chat</a:t>
                      </a:r>
                    </a:p>
                  </a:txBody>
                  <a:tcPr anchor="ctr" marL="73152" marR="73152" marT="18288" marB="18288">
                    <a:solidFill>
                      <a:srgbClr val="FFFFFF"/>
                    </a:solidFill>
                  </a:tcPr>
                </a:tc>
                <a:tc>
                  <a:txBody>
                    <a:bodyPr/>
                    <a:lstStyle/>
                    <a:p>
                      <a:pPr algn="ctr"/>
                      <a:r>
                        <a:rPr sz="1300" b="0">
                          <a:solidFill>
                            <a:srgbClr val="1F2A37"/>
                          </a:solidFill>
                          <a:latin typeface="Arial"/>
                        </a:rPr>
                        <a:t>Chatbot dữ liệu nội bộ</a:t>
                      </a:r>
                    </a:p>
                  </a:txBody>
                  <a:tcPr anchor="ctr" marL="73152" marR="73152" marT="18288" marB="18288">
                    <a:solidFill>
                      <a:srgbClr val="FFFFFF"/>
                    </a:solidFill>
                  </a:tcPr>
                </a:tc>
              </a:tr>
            </a:tbl>
          </a:graphicData>
        </a:graphic>
      </p:graphicFrame>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app.py (route), templates/, services/prediction_service.py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Bộ kiểm thử phủ giao thức dữ liệu, model, chatbot và UI</a:t>
            </a:r>
          </a:p>
          <a:p>
            <a:r>
              <a:rPr sz="1400">
                <a:solidFill>
                  <a:srgbClr val="5B6672"/>
                </a:solidFill>
                <a:latin typeface="Arial"/>
              </a:rPr>
              <a:t>Chương 3.3.1 - Kế hoạch kiểm thử</a:t>
            </a:r>
          </a:p>
        </p:txBody>
      </p:sp>
      <p:graphicFrame>
        <p:nvGraphicFramePr>
          <p:cNvPr id="4" name="Table 3"/>
          <p:cNvGraphicFramePr>
            <a:graphicFrameLocks noGrp="1"/>
          </p:cNvGraphicFramePr>
          <p:nvPr/>
        </p:nvGraphicFramePr>
        <p:xfrm>
          <a:off x="640080" y="1600200"/>
          <a:ext cx="10881360" cy="3200400"/>
        </p:xfrm>
        <a:graphic>
          <a:graphicData uri="http://schemas.openxmlformats.org/drawingml/2006/table">
            <a:tbl>
              <a:tblPr firstRow="1" bandRow="1">
                <a:tableStyleId>{5C22544A-7EE6-4342-B048-85BDC9FD1C3A}</a:tableStyleId>
              </a:tblPr>
              <a:tblGrid>
                <a:gridCol w="4080510"/>
                <a:gridCol w="6800850"/>
              </a:tblGrid>
              <a:tr h="457200">
                <a:tc>
                  <a:txBody>
                    <a:bodyPr/>
                    <a:lstStyle/>
                    <a:p>
                      <a:r>
                        <a:rPr sz="1300" b="1">
                          <a:solidFill>
                            <a:srgbClr val="FFFFFF"/>
                          </a:solidFill>
                          <a:latin typeface="Arial"/>
                        </a:rPr>
                        <a:t>Nhóm kiểm thử</a:t>
                      </a:r>
                    </a:p>
                  </a:txBody>
                  <a:tcPr anchor="ctr" marL="73152" marR="73152" marT="18288" marB="18288">
                    <a:solidFill>
                      <a:srgbClr val="10243B"/>
                    </a:solidFill>
                  </a:tcPr>
                </a:tc>
                <a:tc>
                  <a:txBody>
                    <a:bodyPr/>
                    <a:lstStyle/>
                    <a:p>
                      <a:pPr algn="ctr"/>
                      <a:r>
                        <a:rPr sz="1300" b="1">
                          <a:solidFill>
                            <a:srgbClr val="FFFFFF"/>
                          </a:solidFill>
                          <a:latin typeface="Arial"/>
                        </a:rPr>
                        <a:t>Tệp</a:t>
                      </a:r>
                    </a:p>
                  </a:txBody>
                  <a:tcPr anchor="ctr" marL="73152" marR="73152" marT="18288" marB="18288">
                    <a:solidFill>
                      <a:srgbClr val="10243B"/>
                    </a:solidFill>
                  </a:tcPr>
                </a:tc>
              </a:tr>
              <a:tr h="457200">
                <a:tc>
                  <a:txBody>
                    <a:bodyPr/>
                    <a:lstStyle/>
                    <a:p>
                      <a:r>
                        <a:rPr sz="1300" b="0">
                          <a:solidFill>
                            <a:srgbClr val="1F2A37"/>
                          </a:solidFill>
                          <a:latin typeface="Arial"/>
                        </a:rPr>
                        <a:t>Giao thức dữ liệu và nhãn</a:t>
                      </a:r>
                    </a:p>
                  </a:txBody>
                  <a:tcPr anchor="ctr" marL="73152" marR="73152" marT="18288" marB="18288">
                    <a:solidFill>
                      <a:srgbClr val="ECF1F4"/>
                    </a:solidFill>
                  </a:tcPr>
                </a:tc>
                <a:tc>
                  <a:txBody>
                    <a:bodyPr/>
                    <a:lstStyle/>
                    <a:p>
                      <a:pPr algn="ctr"/>
                      <a:r>
                        <a:rPr sz="1300" b="0">
                          <a:solidFill>
                            <a:srgbClr val="1F2A37"/>
                          </a:solidFill>
                          <a:latin typeface="Arial"/>
                        </a:rPr>
                        <a:t>tests/test_data_protocol.py</a:t>
                      </a:r>
                    </a:p>
                  </a:txBody>
                  <a:tcPr anchor="ctr" marL="73152" marR="73152" marT="18288" marB="18288">
                    <a:solidFill>
                      <a:srgbClr val="ECF1F4"/>
                    </a:solidFill>
                  </a:tcPr>
                </a:tc>
              </a:tr>
              <a:tr h="457200">
                <a:tc>
                  <a:txBody>
                    <a:bodyPr/>
                    <a:lstStyle/>
                    <a:p>
                      <a:r>
                        <a:rPr sz="1300" b="0">
                          <a:solidFill>
                            <a:srgbClr val="1F2A37"/>
                          </a:solidFill>
                          <a:latin typeface="Arial"/>
                        </a:rPr>
                        <a:t>CV chuỗi thời gian</a:t>
                      </a:r>
                    </a:p>
                  </a:txBody>
                  <a:tcPr anchor="ctr" marL="73152" marR="73152" marT="18288" marB="18288">
                    <a:solidFill>
                      <a:srgbClr val="FFFFFF"/>
                    </a:solidFill>
                  </a:tcPr>
                </a:tc>
                <a:tc>
                  <a:txBody>
                    <a:bodyPr/>
                    <a:lstStyle/>
                    <a:p>
                      <a:pPr algn="ctr"/>
                      <a:r>
                        <a:rPr sz="1300" b="0">
                          <a:solidFill>
                            <a:srgbClr val="1F2A37"/>
                          </a:solidFill>
                          <a:latin typeface="Arial"/>
                        </a:rPr>
                        <a:t>tests/test_recent_cv.py</a:t>
                      </a:r>
                    </a:p>
                  </a:txBody>
                  <a:tcPr anchor="ctr" marL="73152" marR="73152" marT="18288" marB="18288">
                    <a:solidFill>
                      <a:srgbClr val="FFFFFF"/>
                    </a:solidFill>
                  </a:tcPr>
                </a:tc>
              </a:tr>
              <a:tr h="457200">
                <a:tc>
                  <a:txBody>
                    <a:bodyPr/>
                    <a:lstStyle/>
                    <a:p>
                      <a:r>
                        <a:rPr sz="1300" b="0">
                          <a:solidFill>
                            <a:srgbClr val="1F2A37"/>
                          </a:solidFill>
                          <a:latin typeface="Arial"/>
                        </a:rPr>
                        <a:t>Chọn model và giao thức TEST</a:t>
                      </a:r>
                    </a:p>
                  </a:txBody>
                  <a:tcPr anchor="ctr" marL="73152" marR="73152" marT="18288" marB="18288">
                    <a:solidFill>
                      <a:srgbClr val="ECF1F4"/>
                    </a:solidFill>
                  </a:tcPr>
                </a:tc>
                <a:tc>
                  <a:txBody>
                    <a:bodyPr/>
                    <a:lstStyle/>
                    <a:p>
                      <a:pPr algn="ctr"/>
                      <a:r>
                        <a:rPr sz="1300" b="0">
                          <a:solidFill>
                            <a:srgbClr val="1F2A37"/>
                          </a:solidFill>
                          <a:latin typeface="Arial"/>
                        </a:rPr>
                        <a:t>tests/test_model_selection.py</a:t>
                      </a:r>
                    </a:p>
                  </a:txBody>
                  <a:tcPr anchor="ctr" marL="73152" marR="73152" marT="18288" marB="18288">
                    <a:solidFill>
                      <a:srgbClr val="ECF1F4"/>
                    </a:solidFill>
                  </a:tcPr>
                </a:tc>
              </a:tr>
              <a:tr h="457200">
                <a:tc>
                  <a:txBody>
                    <a:bodyPr/>
                    <a:lstStyle/>
                    <a:p>
                      <a:r>
                        <a:rPr sz="1300" b="0">
                          <a:solidFill>
                            <a:srgbClr val="1F2A37"/>
                          </a:solidFill>
                          <a:latin typeface="Arial"/>
                        </a:rPr>
                        <a:t>Luồng dự báo</a:t>
                      </a:r>
                    </a:p>
                  </a:txBody>
                  <a:tcPr anchor="ctr" marL="73152" marR="73152" marT="18288" marB="18288">
                    <a:solidFill>
                      <a:srgbClr val="FFFFFF"/>
                    </a:solidFill>
                  </a:tcPr>
                </a:tc>
                <a:tc>
                  <a:txBody>
                    <a:bodyPr/>
                    <a:lstStyle/>
                    <a:p>
                      <a:pPr algn="ctr"/>
                      <a:r>
                        <a:rPr sz="1300" b="0">
                          <a:solidFill>
                            <a:srgbClr val="1F2A37"/>
                          </a:solidFill>
                          <a:latin typeface="Arial"/>
                        </a:rPr>
                        <a:t>tests/test_prediction_flow.py</a:t>
                      </a:r>
                    </a:p>
                  </a:txBody>
                  <a:tcPr anchor="ctr" marL="73152" marR="73152" marT="18288" marB="18288">
                    <a:solidFill>
                      <a:srgbClr val="FFFFFF"/>
                    </a:solidFill>
                  </a:tcPr>
                </a:tc>
              </a:tr>
              <a:tr h="457200">
                <a:tc>
                  <a:txBody>
                    <a:bodyPr/>
                    <a:lstStyle/>
                    <a:p>
                      <a:r>
                        <a:rPr sz="1300" b="0">
                          <a:solidFill>
                            <a:srgbClr val="1F2A37"/>
                          </a:solidFill>
                          <a:latin typeface="Arial"/>
                        </a:rPr>
                        <a:t>Tuning Lab và lịch sử tuning</a:t>
                      </a:r>
                    </a:p>
                  </a:txBody>
                  <a:tcPr anchor="ctr" marL="73152" marR="73152" marT="18288" marB="18288">
                    <a:solidFill>
                      <a:srgbClr val="ECF1F4"/>
                    </a:solidFill>
                  </a:tcPr>
                </a:tc>
                <a:tc>
                  <a:txBody>
                    <a:bodyPr/>
                    <a:lstStyle/>
                    <a:p>
                      <a:pPr algn="ctr"/>
                      <a:r>
                        <a:rPr sz="1300" b="0">
                          <a:solidFill>
                            <a:srgbClr val="1F2A37"/>
                          </a:solidFill>
                          <a:latin typeface="Arial"/>
                        </a:rPr>
                        <a:t>tests/test_tuning_lab.py, test_tuning_history.py</a:t>
                      </a:r>
                    </a:p>
                  </a:txBody>
                  <a:tcPr anchor="ctr" marL="73152" marR="73152" marT="18288" marB="18288">
                    <a:solidFill>
                      <a:srgbClr val="ECF1F4"/>
                    </a:solidFill>
                  </a:tcPr>
                </a:tc>
              </a:tr>
              <a:tr h="457200">
                <a:tc>
                  <a:txBody>
                    <a:bodyPr/>
                    <a:lstStyle/>
                    <a:p>
                      <a:r>
                        <a:rPr sz="1300" b="0">
                          <a:solidFill>
                            <a:srgbClr val="1F2A37"/>
                          </a:solidFill>
                          <a:latin typeface="Arial"/>
                        </a:rPr>
                        <a:t>Web UI và chatbot</a:t>
                      </a:r>
                    </a:p>
                  </a:txBody>
                  <a:tcPr anchor="ctr" marL="73152" marR="73152" marT="18288" marB="18288">
                    <a:solidFill>
                      <a:srgbClr val="FFFFFF"/>
                    </a:solidFill>
                  </a:tcPr>
                </a:tc>
                <a:tc>
                  <a:txBody>
                    <a:bodyPr/>
                    <a:lstStyle/>
                    <a:p>
                      <a:pPr algn="ctr"/>
                      <a:r>
                        <a:rPr sz="1300" b="0">
                          <a:solidFill>
                            <a:srgbClr val="1F2A37"/>
                          </a:solidFill>
                          <a:latin typeface="Arial"/>
                        </a:rPr>
                        <a:t>tests/test_ui_shell.py, test_chatbot*.py</a:t>
                      </a:r>
                    </a:p>
                  </a:txBody>
                  <a:tcPr anchor="ctr" marL="73152" marR="73152" marT="18288" marB="18288">
                    <a:solidFill>
                      <a:srgbClr val="FFFFFF"/>
                    </a:solidFill>
                  </a:tcPr>
                </a:tc>
              </a:tr>
            </a:tbl>
          </a:graphicData>
        </a:graphic>
      </p:graphicFrame>
      <p:sp>
        <p:nvSpPr>
          <p:cNvPr id="5" name="TextBox 4"/>
          <p:cNvSpPr txBox="1"/>
          <p:nvPr/>
        </p:nvSpPr>
        <p:spPr>
          <a:xfrm>
            <a:off x="640080" y="5029200"/>
            <a:ext cx="10881360" cy="1005840"/>
          </a:xfrm>
          <a:prstGeom prst="rect">
            <a:avLst/>
          </a:prstGeom>
          <a:noFill/>
        </p:spPr>
        <p:txBody>
          <a:bodyPr wrap="square">
            <a:spAutoFit/>
          </a:bodyPr>
          <a:lstStyle/>
          <a:p>
            <a:pPr>
              <a:spcAft>
                <a:spcPts val="600"/>
              </a:spcAft>
            </a:pPr>
            <a:r>
              <a:rPr sz="1500">
                <a:solidFill>
                  <a:srgbClr val="1F2A37"/>
                </a:solidFill>
                <a:latin typeface="Arial"/>
              </a:rPr>
              <a:t>– Cổng kiểm tra trong pipeline chặn rò rỉ biên</a:t>
            </a:r>
          </a:p>
          <a:p>
            <a:pPr>
              <a:spcAft>
                <a:spcPts val="600"/>
              </a:spcAft>
            </a:pPr>
            <a:r>
              <a:rPr sz="1500">
                <a:solidFill>
                  <a:srgbClr val="1F2A37"/>
                </a:solidFill>
                <a:latin typeface="Arial"/>
              </a:rPr>
              <a:t>– Chưa có kiểm thử hiệu năng và chấp nhận</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tests/, reports/pipeline_summary.json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Hạn chế lớn nhất: chất lượng dự báo chưa vượt baseline</a:t>
            </a:r>
          </a:p>
          <a:p>
            <a:r>
              <a:rPr sz="1400">
                <a:solidFill>
                  <a:srgbClr val="5B6672"/>
                </a:solidFill>
                <a:latin typeface="Arial"/>
              </a:rPr>
              <a:t>Chương 4.3 - Hạn chế</a:t>
            </a:r>
          </a:p>
        </p:txBody>
      </p:sp>
      <p:sp>
        <p:nvSpPr>
          <p:cNvPr id="4" name="TextBox 3"/>
          <p:cNvSpPr txBox="1"/>
          <p:nvPr/>
        </p:nvSpPr>
        <p:spPr>
          <a:xfrm>
            <a:off x="731520" y="1554480"/>
            <a:ext cx="10728655" cy="4206240"/>
          </a:xfrm>
          <a:prstGeom prst="rect">
            <a:avLst/>
          </a:prstGeom>
          <a:noFill/>
        </p:spPr>
        <p:txBody>
          <a:bodyPr wrap="square">
            <a:spAutoFit/>
          </a:bodyPr>
          <a:lstStyle/>
          <a:p>
            <a:pPr>
              <a:spcAft>
                <a:spcPts val="1400"/>
              </a:spcAft>
            </a:pPr>
            <a:r>
              <a:rPr sz="1800">
                <a:solidFill>
                  <a:srgbClr val="1F2A37"/>
                </a:solidFill>
                <a:latin typeface="Arial"/>
              </a:rPr>
              <a:t>– TEST F1_UP thấp hơn baseline luôn UP</a:t>
            </a:r>
          </a:p>
          <a:p>
            <a:pPr>
              <a:spcAft>
                <a:spcPts val="1400"/>
              </a:spcAft>
            </a:pPr>
            <a:r>
              <a:rPr sz="1800">
                <a:solidFill>
                  <a:srgbClr val="1F2A37"/>
                </a:solidFill>
                <a:latin typeface="Arial"/>
              </a:rPr>
              <a:t>– Chỉ dùng giá và khối lượng theo ngày</a:t>
            </a:r>
          </a:p>
          <a:p>
            <a:pPr>
              <a:spcAft>
                <a:spcPts val="1400"/>
              </a:spcAft>
            </a:pPr>
            <a:r>
              <a:rPr sz="1800">
                <a:solidFill>
                  <a:srgbClr val="1F2A37"/>
                </a:solidFill>
                <a:latin typeface="Arial"/>
              </a:rPr>
              <a:t>– Ngưỡng cố định, chưa hiệu chỉnh theo thị trường</a:t>
            </a:r>
          </a:p>
          <a:p>
            <a:pPr>
              <a:spcAft>
                <a:spcPts val="1400"/>
              </a:spcAft>
            </a:pPr>
            <a:r>
              <a:rPr sz="1800">
                <a:solidFill>
                  <a:srgbClr val="1F2A37"/>
                </a:solidFill>
                <a:latin typeface="Arial"/>
              </a:rPr>
              <a:t>– Suy luận trên dữ liệu tĩnh, không realtime</a:t>
            </a:r>
          </a:p>
          <a:p>
            <a:pPr>
              <a:spcAft>
                <a:spcPts val="1400"/>
              </a:spcAft>
            </a:pPr>
            <a:r>
              <a:rPr sz="1800">
                <a:solidFill>
                  <a:srgbClr val="1F2A37"/>
                </a:solidFill>
                <a:latin typeface="Arial"/>
              </a:rPr>
              <a:t>– Web chưa có xác thực người dùng</a:t>
            </a:r>
          </a:p>
          <a:p>
            <a:pPr>
              <a:spcAft>
                <a:spcPts val="1400"/>
              </a:spcAft>
            </a:pPr>
            <a:r>
              <a:rPr sz="1800">
                <a:solidFill>
                  <a:srgbClr val="1F2A37"/>
                </a:solidFill>
                <a:latin typeface="Arial"/>
              </a:rPr>
              <a:t>– Chưa kiểm thử hiệu năng và chấp nhận</a:t>
            </a:r>
          </a:p>
        </p:txBody>
      </p:sp>
      <p:sp>
        <p:nvSpPr>
          <p:cNvPr id="5" name="TextBox 4"/>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báo cáo mục 4.3, reports/final_model_evaluation.csv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Hướng phát triển: mở rộng feature và hiệu chỉnh xác suất</a:t>
            </a:r>
          </a:p>
          <a:p>
            <a:r>
              <a:rPr sz="1400">
                <a:solidFill>
                  <a:srgbClr val="5B6672"/>
                </a:solidFill>
                <a:latin typeface="Arial"/>
              </a:rPr>
              <a:t>Chương 4.4 - Hướng phát triển</a:t>
            </a:r>
          </a:p>
        </p:txBody>
      </p:sp>
      <p:sp>
        <p:nvSpPr>
          <p:cNvPr id="4" name="TextBox 3"/>
          <p:cNvSpPr txBox="1"/>
          <p:nvPr/>
        </p:nvSpPr>
        <p:spPr>
          <a:xfrm>
            <a:off x="731520" y="1554480"/>
            <a:ext cx="10728655" cy="4206240"/>
          </a:xfrm>
          <a:prstGeom prst="rect">
            <a:avLst/>
          </a:prstGeom>
          <a:noFill/>
        </p:spPr>
        <p:txBody>
          <a:bodyPr wrap="square">
            <a:spAutoFit/>
          </a:bodyPr>
          <a:lstStyle/>
          <a:p>
            <a:pPr>
              <a:spcAft>
                <a:spcPts val="1400"/>
              </a:spcAft>
            </a:pPr>
            <a:r>
              <a:rPr sz="1800">
                <a:solidFill>
                  <a:srgbClr val="1F2A37"/>
                </a:solidFill>
                <a:latin typeface="Arial"/>
              </a:rPr>
              <a:t>– Thêm VN-Index, sức mạnh ngành, khối ngoại</a:t>
            </a:r>
          </a:p>
          <a:p>
            <a:pPr>
              <a:spcAft>
                <a:spcPts val="1400"/>
              </a:spcAft>
            </a:pPr>
            <a:r>
              <a:rPr sz="1800">
                <a:solidFill>
                  <a:srgbClr val="1F2A37"/>
                </a:solidFill>
                <a:latin typeface="Arial"/>
              </a:rPr>
              <a:t>– Thử XGBoost, LightGBM, LSTM cùng giao thức</a:t>
            </a:r>
          </a:p>
          <a:p>
            <a:pPr>
              <a:spcAft>
                <a:spcPts val="1400"/>
              </a:spcAft>
            </a:pPr>
            <a:r>
              <a:rPr sz="1800">
                <a:solidFill>
                  <a:srgbClr val="1F2A37"/>
                </a:solidFill>
                <a:latin typeface="Arial"/>
              </a:rPr>
              <a:t>– Hiệu chỉnh xác suất Platt hoặc isotonic</a:t>
            </a:r>
          </a:p>
          <a:p>
            <a:pPr>
              <a:spcAft>
                <a:spcPts val="1400"/>
              </a:spcAft>
            </a:pPr>
            <a:r>
              <a:rPr sz="1800">
                <a:solidFill>
                  <a:srgbClr val="1F2A37"/>
                </a:solidFill>
                <a:latin typeface="Arial"/>
              </a:rPr>
              <a:t>– Đánh giá theo lợi nhuận và mức sụt giảm</a:t>
            </a:r>
          </a:p>
          <a:p>
            <a:pPr>
              <a:spcAft>
                <a:spcPts val="1400"/>
              </a:spcAft>
            </a:pPr>
            <a:r>
              <a:rPr sz="1800">
                <a:solidFill>
                  <a:srgbClr val="1F2A37"/>
                </a:solidFill>
                <a:latin typeface="Arial"/>
              </a:rPr>
              <a:t>– Tự động walk-forward định kỳ mỗi tháng</a:t>
            </a:r>
          </a:p>
          <a:p>
            <a:pPr>
              <a:spcAft>
                <a:spcPts val="1400"/>
              </a:spcAft>
            </a:pPr>
            <a:r>
              <a:rPr sz="1800">
                <a:solidFill>
                  <a:srgbClr val="1F2A37"/>
                </a:solidFill>
                <a:latin typeface="Arial"/>
              </a:rPr>
              <a:t>– Thêm xác thực, khóa liên tiến trình, ghi vết</a:t>
            </a:r>
          </a:p>
        </p:txBody>
      </p:sp>
      <p:sp>
        <p:nvSpPr>
          <p:cNvPr id="5" name="TextBox 4"/>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báo cáo mục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1094415" cy="914400"/>
          </a:xfrm>
          <a:prstGeom prst="rect">
            <a:avLst/>
          </a:prstGeom>
          <a:noFill/>
        </p:spPr>
        <p:txBody>
          <a:bodyPr wrap="square">
            <a:spAutoFit/>
          </a:bodyPr>
          <a:lstStyle/>
          <a:p>
            <a:r>
              <a:rPr sz="2800" b="1">
                <a:solidFill>
                  <a:srgbClr val="10243B"/>
                </a:solidFill>
                <a:latin typeface="Arial"/>
              </a:rPr>
              <a:t>Bốn mục tiêu kỹ thuật đạt, mục tiêu vượt baseline không đạt</a:t>
            </a:r>
          </a:p>
          <a:p>
            <a:r>
              <a:rPr sz="1400">
                <a:solidFill>
                  <a:srgbClr val="5B6672"/>
                </a:solidFill>
                <a:latin typeface="Arial"/>
              </a:rPr>
              <a:t>Chương 4.1 - Kết luận</a:t>
            </a:r>
          </a:p>
        </p:txBody>
      </p:sp>
      <p:graphicFrame>
        <p:nvGraphicFramePr>
          <p:cNvPr id="4" name="Table 3"/>
          <p:cNvGraphicFramePr>
            <a:graphicFrameLocks noGrp="1"/>
          </p:cNvGraphicFramePr>
          <p:nvPr/>
        </p:nvGraphicFramePr>
        <p:xfrm>
          <a:off x="640080" y="1600200"/>
          <a:ext cx="10881360" cy="2834640"/>
        </p:xfrm>
        <a:graphic>
          <a:graphicData uri="http://schemas.openxmlformats.org/drawingml/2006/table">
            <a:tbl>
              <a:tblPr firstRow="1" bandRow="1">
                <a:tableStyleId>{5C22544A-7EE6-4342-B048-85BDC9FD1C3A}</a:tableStyleId>
              </a:tblPr>
              <a:tblGrid>
                <a:gridCol w="5440680"/>
                <a:gridCol w="5440680"/>
              </a:tblGrid>
              <a:tr h="472440">
                <a:tc>
                  <a:txBody>
                    <a:bodyPr/>
                    <a:lstStyle/>
                    <a:p>
                      <a:r>
                        <a:rPr sz="1400" b="1">
                          <a:solidFill>
                            <a:srgbClr val="FFFFFF"/>
                          </a:solidFill>
                          <a:latin typeface="Arial"/>
                        </a:rPr>
                        <a:t>Mục tiêu</a:t>
                      </a:r>
                    </a:p>
                  </a:txBody>
                  <a:tcPr anchor="ctr" marL="73152" marR="73152" marT="18288" marB="18288">
                    <a:solidFill>
                      <a:srgbClr val="10243B"/>
                    </a:solidFill>
                  </a:tcPr>
                </a:tc>
                <a:tc>
                  <a:txBody>
                    <a:bodyPr/>
                    <a:lstStyle/>
                    <a:p>
                      <a:pPr algn="ctr"/>
                      <a:r>
                        <a:rPr sz="1400" b="1">
                          <a:solidFill>
                            <a:srgbClr val="FFFFFF"/>
                          </a:solidFill>
                          <a:latin typeface="Arial"/>
                        </a:rPr>
                        <a:t>Kết quả</a:t>
                      </a:r>
                    </a:p>
                  </a:txBody>
                  <a:tcPr anchor="ctr" marL="73152" marR="73152" marT="18288" marB="18288">
                    <a:solidFill>
                      <a:srgbClr val="10243B"/>
                    </a:solidFill>
                  </a:tcPr>
                </a:tc>
              </a:tr>
              <a:tr h="472440">
                <a:tc>
                  <a:txBody>
                    <a:bodyPr/>
                    <a:lstStyle/>
                    <a:p>
                      <a:r>
                        <a:rPr sz="1400" b="0">
                          <a:solidFill>
                            <a:srgbClr val="1F2A37"/>
                          </a:solidFill>
                          <a:latin typeface="Arial"/>
                        </a:rPr>
                        <a:t>Pipeline dữ liệu và feature</a:t>
                      </a:r>
                    </a:p>
                  </a:txBody>
                  <a:tcPr anchor="ctr" marL="73152" marR="73152" marT="18288" marB="18288">
                    <a:solidFill>
                      <a:srgbClr val="ECF1F4"/>
                    </a:solidFill>
                  </a:tcPr>
                </a:tc>
                <a:tc>
                  <a:txBody>
                    <a:bodyPr/>
                    <a:lstStyle/>
                    <a:p>
                      <a:pPr algn="ctr"/>
                      <a:r>
                        <a:rPr sz="1400" b="0">
                          <a:solidFill>
                            <a:srgbClr val="1F2A37"/>
                          </a:solidFill>
                          <a:latin typeface="Arial"/>
                        </a:rPr>
                        <a:t>Đạt - 510.862 dòng, 20 feature</a:t>
                      </a:r>
                    </a:p>
                  </a:txBody>
                  <a:tcPr anchor="ctr" marL="73152" marR="73152" marT="18288" marB="18288">
                    <a:solidFill>
                      <a:srgbClr val="ECF1F4"/>
                    </a:solidFill>
                  </a:tcPr>
                </a:tc>
              </a:tr>
              <a:tr h="472440">
                <a:tc>
                  <a:txBody>
                    <a:bodyPr/>
                    <a:lstStyle/>
                    <a:p>
                      <a:r>
                        <a:rPr sz="1400" b="0">
                          <a:solidFill>
                            <a:srgbClr val="1F2A37"/>
                          </a:solidFill>
                          <a:latin typeface="Arial"/>
                        </a:rPr>
                        <a:t>Nhãn không rò rỉ theo phiên chung</a:t>
                      </a:r>
                    </a:p>
                  </a:txBody>
                  <a:tcPr anchor="ctr" marL="73152" marR="73152" marT="18288" marB="18288">
                    <a:solidFill>
                      <a:srgbClr val="FFFFFF"/>
                    </a:solidFill>
                  </a:tcPr>
                </a:tc>
                <a:tc>
                  <a:txBody>
                    <a:bodyPr/>
                    <a:lstStyle/>
                    <a:p>
                      <a:pPr algn="ctr"/>
                      <a:r>
                        <a:rPr sz="1400" b="0">
                          <a:solidFill>
                            <a:srgbClr val="1F2A37"/>
                          </a:solidFill>
                          <a:latin typeface="Arial"/>
                        </a:rPr>
                        <a:t>Đạt - có test kiểm chứng</a:t>
                      </a:r>
                    </a:p>
                  </a:txBody>
                  <a:tcPr anchor="ctr" marL="73152" marR="73152" marT="18288" marB="18288">
                    <a:solidFill>
                      <a:srgbClr val="FFFFFF"/>
                    </a:solidFill>
                  </a:tcPr>
                </a:tc>
              </a:tr>
              <a:tr h="472440">
                <a:tc>
                  <a:txBody>
                    <a:bodyPr/>
                    <a:lstStyle/>
                    <a:p>
                      <a:r>
                        <a:rPr sz="1400" b="0">
                          <a:solidFill>
                            <a:srgbClr val="1F2A37"/>
                          </a:solidFill>
                          <a:latin typeface="Arial"/>
                        </a:rPr>
                        <a:t>So sánh ba model theo giao thức</a:t>
                      </a:r>
                    </a:p>
                  </a:txBody>
                  <a:tcPr anchor="ctr" marL="73152" marR="73152" marT="18288" marB="18288">
                    <a:solidFill>
                      <a:srgbClr val="ECF1F4"/>
                    </a:solidFill>
                  </a:tcPr>
                </a:tc>
                <a:tc>
                  <a:txBody>
                    <a:bodyPr/>
                    <a:lstStyle/>
                    <a:p>
                      <a:pPr algn="ctr"/>
                      <a:r>
                        <a:rPr sz="1400" b="0">
                          <a:solidFill>
                            <a:srgbClr val="1F2A37"/>
                          </a:solidFill>
                          <a:latin typeface="Arial"/>
                        </a:rPr>
                        <a:t>Đạt - 3 model, CV 4 fold</a:t>
                      </a:r>
                    </a:p>
                  </a:txBody>
                  <a:tcPr anchor="ctr" marL="73152" marR="73152" marT="18288" marB="18288">
                    <a:solidFill>
                      <a:srgbClr val="ECF1F4"/>
                    </a:solidFill>
                  </a:tcPr>
                </a:tc>
              </a:tr>
              <a:tr h="472440">
                <a:tc>
                  <a:txBody>
                    <a:bodyPr/>
                    <a:lstStyle/>
                    <a:p>
                      <a:r>
                        <a:rPr sz="1400" b="0">
                          <a:solidFill>
                            <a:srgbClr val="1F2A37"/>
                          </a:solidFill>
                          <a:latin typeface="Arial"/>
                        </a:rPr>
                        <a:t>Công bố hiện vật và web</a:t>
                      </a:r>
                    </a:p>
                  </a:txBody>
                  <a:tcPr anchor="ctr" marL="73152" marR="73152" marT="18288" marB="18288">
                    <a:solidFill>
                      <a:srgbClr val="FFFFFF"/>
                    </a:solidFill>
                  </a:tcPr>
                </a:tc>
                <a:tc>
                  <a:txBody>
                    <a:bodyPr/>
                    <a:lstStyle/>
                    <a:p>
                      <a:pPr algn="ctr"/>
                      <a:r>
                        <a:rPr sz="1400" b="0">
                          <a:solidFill>
                            <a:srgbClr val="1F2A37"/>
                          </a:solidFill>
                          <a:latin typeface="Arial"/>
                        </a:rPr>
                        <a:t>Đạt - final_model.pkl, web Flask + CLI</a:t>
                      </a:r>
                    </a:p>
                  </a:txBody>
                  <a:tcPr anchor="ctr" marL="73152" marR="73152" marT="18288" marB="18288">
                    <a:solidFill>
                      <a:srgbClr val="FFFFFF"/>
                    </a:solidFill>
                  </a:tcPr>
                </a:tc>
              </a:tr>
              <a:tr h="472440">
                <a:tc>
                  <a:txBody>
                    <a:bodyPr/>
                    <a:lstStyle/>
                    <a:p>
                      <a:r>
                        <a:rPr sz="1400" b="0">
                          <a:solidFill>
                            <a:srgbClr val="1F2A37"/>
                          </a:solidFill>
                          <a:latin typeface="Arial"/>
                        </a:rPr>
                        <a:t>Vượt baseline always-UP trên TEST</a:t>
                      </a:r>
                    </a:p>
                  </a:txBody>
                  <a:tcPr anchor="ctr" marL="73152" marR="73152" marT="18288" marB="18288">
                    <a:solidFill>
                      <a:srgbClr val="ECF1F4"/>
                    </a:solidFill>
                  </a:tcPr>
                </a:tc>
                <a:tc>
                  <a:txBody>
                    <a:bodyPr/>
                    <a:lstStyle/>
                    <a:p>
                      <a:pPr algn="ctr"/>
                      <a:r>
                        <a:rPr sz="1400" b="0">
                          <a:solidFill>
                            <a:srgbClr val="1F2A37"/>
                          </a:solidFill>
                          <a:latin typeface="Arial"/>
                        </a:rPr>
                        <a:t>Không đạt - 0,3754 so 0,3839</a:t>
                      </a:r>
                    </a:p>
                  </a:txBody>
                  <a:tcPr anchor="ctr" marL="73152" marR="73152" marT="18288" marB="18288">
                    <a:solidFill>
                      <a:srgbClr val="ECF1F4"/>
                    </a:solidFill>
                  </a:tcPr>
                </a:tc>
              </a:tr>
            </a:tbl>
          </a:graphicData>
        </a:graphic>
      </p:graphicFrame>
      <p:sp>
        <p:nvSpPr>
          <p:cNvPr id="5" name="TextBox 4"/>
          <p:cNvSpPr txBox="1"/>
          <p:nvPr/>
        </p:nvSpPr>
        <p:spPr>
          <a:xfrm>
            <a:off x="640080" y="4709160"/>
            <a:ext cx="10881360" cy="1280160"/>
          </a:xfrm>
          <a:prstGeom prst="rect">
            <a:avLst/>
          </a:prstGeom>
          <a:noFill/>
        </p:spPr>
        <p:txBody>
          <a:bodyPr wrap="square">
            <a:spAutoFit/>
          </a:bodyPr>
          <a:lstStyle/>
          <a:p>
            <a:pPr>
              <a:spcAft>
                <a:spcPts val="1000"/>
              </a:spcAft>
            </a:pPr>
            <a:r>
              <a:rPr sz="1700">
                <a:solidFill>
                  <a:srgbClr val="1F2A37"/>
                </a:solidFill>
                <a:latin typeface="Arial"/>
              </a:rPr>
              <a:t>– Giá trị chính: giao thức chống rò rỉ, tái lập được</a:t>
            </a:r>
          </a:p>
          <a:p>
            <a:pPr>
              <a:spcAft>
                <a:spcPts val="1000"/>
              </a:spcAft>
            </a:pPr>
            <a:r>
              <a:rPr sz="1700">
                <a:solidFill>
                  <a:srgbClr val="1F2A37"/>
                </a:solidFill>
                <a:latin typeface="Arial"/>
              </a:rPr>
              <a:t>– Xin cảm ơn - kính mời hội đồng đặt câu hỏi</a:t>
            </a:r>
          </a:p>
        </p:txBody>
      </p:sp>
      <p:sp>
        <p:nvSpPr>
          <p:cNvPr id="6" name="TextBox 5"/>
          <p:cNvSpPr txBox="1"/>
          <p:nvPr/>
        </p:nvSpPr>
        <p:spPr>
          <a:xfrm>
            <a:off x="548640" y="6291072"/>
            <a:ext cx="11094415" cy="365760"/>
          </a:xfrm>
          <a:prstGeom prst="rect">
            <a:avLst/>
          </a:prstGeom>
          <a:noFill/>
        </p:spPr>
        <p:txBody>
          <a:bodyPr wrap="square">
            <a:spAutoFit/>
          </a:bodyPr>
          <a:lstStyle/>
          <a:p>
            <a:r>
              <a:rPr sz="1100">
                <a:solidFill>
                  <a:srgbClr val="5B6672"/>
                </a:solidFill>
                <a:latin typeface="Arial"/>
              </a:rPr>
              <a:t>Nguồn: báo cáo mục 4.1, models/model_metadata.json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